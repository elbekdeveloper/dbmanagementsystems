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5"/>
  </p:notesMasterIdLst>
  <p:sldIdLst>
    <p:sldId id="257" r:id="rId5"/>
    <p:sldId id="258" r:id="rId6"/>
    <p:sldId id="259" r:id="rId7"/>
    <p:sldId id="284" r:id="rId8"/>
    <p:sldId id="286" r:id="rId9"/>
    <p:sldId id="285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6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55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B67DFC-C94E-45B0-8BCA-6BF80206B21F}" type="datetimeFigureOut">
              <a:rPr lang="en-GB" smtClean="0"/>
              <a:t>01/10/2020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1F1F8-DA74-4BF3-BAD2-FA2B085970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4654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F1F8-DA74-4BF3-BAD2-FA2B085970D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7893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75607"/>
          </a:xfrm>
          <a:prstGeom prst="rect">
            <a:avLst/>
          </a:prstGeom>
          <a:solidFill>
            <a:srgbClr val="083FA4">
              <a:shade val="30000"/>
              <a:satMod val="1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4821" y="65530"/>
            <a:ext cx="2925543" cy="640960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2709863" y="2522538"/>
            <a:ext cx="6753225" cy="13144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400" b="1"/>
            </a:lvl1pPr>
          </a:lstStyle>
          <a:p>
            <a:pPr lvl="0"/>
            <a:r>
              <a:rPr lang="en-GB" dirty="0" smtClean="0"/>
              <a:t>Presentation Title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6596743"/>
            <a:ext cx="12192000" cy="261257"/>
          </a:xfrm>
          <a:prstGeom prst="rect">
            <a:avLst/>
          </a:prstGeom>
          <a:solidFill>
            <a:srgbClr val="083FA4">
              <a:shade val="30000"/>
              <a:satMod val="1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7614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775607"/>
          </a:xfrm>
          <a:prstGeom prst="rect">
            <a:avLst/>
          </a:prstGeom>
          <a:solidFill>
            <a:srgbClr val="083FA4">
              <a:shade val="30000"/>
              <a:satMod val="1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6596743"/>
            <a:ext cx="12192000" cy="261257"/>
          </a:xfrm>
          <a:prstGeom prst="rect">
            <a:avLst/>
          </a:prstGeom>
          <a:solidFill>
            <a:srgbClr val="083FA4">
              <a:shade val="30000"/>
              <a:satMod val="1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4821" y="65530"/>
            <a:ext cx="2925543" cy="64096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63513" y="130175"/>
            <a:ext cx="7151687" cy="52228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 smtClean="0"/>
              <a:t>Slide title </a:t>
            </a:r>
            <a:endParaRPr lang="en-US" dirty="0" smtClean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1" hasCustomPrompt="1"/>
          </p:nvPr>
        </p:nvSpPr>
        <p:spPr>
          <a:xfrm>
            <a:off x="538163" y="1143000"/>
            <a:ext cx="11193462" cy="50053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 smtClean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665064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3FA4">
              <a:shade val="30000"/>
              <a:satMod val="1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193" y="2694430"/>
            <a:ext cx="6705614" cy="1469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627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ece.uprm.edu/~icom5047/documents/barkers-erd-notation.pdf" TargetMode="External"/><Relationship Id="rId2" Type="http://schemas.openxmlformats.org/officeDocument/2006/relationships/hyperlink" Target="http://www2.cs.uregina.ca/~bernatja/crowsfoot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u.qwe.wiki/wiki/IDEF1X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Database Systems Development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3208149" y="4215539"/>
            <a:ext cx="60443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/>
              <a:t>Lecture 2</a:t>
            </a:r>
          </a:p>
          <a:p>
            <a:pPr algn="ctr"/>
            <a:r>
              <a:rPr lang="en-GB" sz="2800" dirty="0"/>
              <a:t>E</a:t>
            </a:r>
            <a:r>
              <a:rPr lang="en-GB" sz="2800" dirty="0" smtClean="0"/>
              <a:t>nhanced ER modelling concepts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853623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Agenda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sz="4400" dirty="0" smtClean="0"/>
              <a:t>Relationships with attributes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4400" dirty="0" smtClean="0"/>
              <a:t>Recursive relationships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4400" dirty="0"/>
              <a:t>R</a:t>
            </a:r>
            <a:r>
              <a:rPr lang="en-GB" sz="4400" dirty="0" smtClean="0"/>
              <a:t>elationships with degree higher then 2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4400" dirty="0" smtClean="0"/>
              <a:t>Specialization/generalization EER concepts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4400" dirty="0" smtClean="0"/>
              <a:t>Aggregation and composition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4400" dirty="0" smtClean="0"/>
              <a:t>Alternative notations</a:t>
            </a:r>
            <a:endParaRPr lang="en-GB" sz="4400" dirty="0"/>
          </a:p>
        </p:txBody>
      </p:sp>
    </p:spTree>
    <p:extLst>
      <p:ext uri="{BB962C8B-B14F-4D97-AF65-F5344CB8AC3E}">
        <p14:creationId xmlns:p14="http://schemas.microsoft.com/office/powerpoint/2010/main" val="3252624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Revision</a:t>
            </a:r>
            <a:endParaRPr lang="ru-RU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7018451" y="4149499"/>
            <a:ext cx="17859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 dirty="0">
                <a:latin typeface="+mj-lt"/>
              </a:rPr>
              <a:t>Cardinality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9328264" y="4181249"/>
            <a:ext cx="22209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>
                <a:latin typeface="+mj-lt"/>
              </a:rPr>
              <a:t>Participation</a:t>
            </a: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5425849" y="1553936"/>
            <a:ext cx="1420812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b="1" i="1">
                <a:latin typeface="+mj-lt"/>
              </a:rPr>
              <a:t>Entity</a:t>
            </a:r>
            <a:r>
              <a:rPr lang="en-US" altLang="en-US" b="1">
                <a:latin typeface="+mj-lt"/>
              </a:rPr>
              <a:t> 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2884261" y="1228499"/>
            <a:ext cx="955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>
                <a:latin typeface="+mj-lt"/>
              </a:rPr>
              <a:t>Type</a:t>
            </a:r>
          </a:p>
        </p:txBody>
      </p:sp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2080986" y="2063524"/>
            <a:ext cx="19573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 dirty="0">
                <a:latin typeface="+mj-lt"/>
              </a:rPr>
              <a:t>Occurrence</a:t>
            </a:r>
          </a:p>
        </p:txBody>
      </p:sp>
      <p:sp>
        <p:nvSpPr>
          <p:cNvPr id="9" name="Text Box 15"/>
          <p:cNvSpPr txBox="1">
            <a:spLocks noChangeArrowheads="1"/>
          </p:cNvSpPr>
          <p:nvPr/>
        </p:nvSpPr>
        <p:spPr bwMode="auto">
          <a:xfrm>
            <a:off x="7805511" y="1188811"/>
            <a:ext cx="18176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>
                <a:latin typeface="+mj-lt"/>
              </a:rPr>
              <a:t>Strong</a:t>
            </a:r>
          </a:p>
        </p:txBody>
      </p:sp>
      <p:sp>
        <p:nvSpPr>
          <p:cNvPr id="10" name="Text Box 16"/>
          <p:cNvSpPr txBox="1">
            <a:spLocks noChangeArrowheads="1"/>
          </p:cNvSpPr>
          <p:nvPr/>
        </p:nvSpPr>
        <p:spPr bwMode="auto">
          <a:xfrm>
            <a:off x="7805511" y="1880961"/>
            <a:ext cx="18176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>
                <a:latin typeface="+mj-lt"/>
              </a:rPr>
              <a:t>Weak</a:t>
            </a:r>
          </a:p>
        </p:txBody>
      </p:sp>
      <p:sp>
        <p:nvSpPr>
          <p:cNvPr id="11" name="Line 17"/>
          <p:cNvSpPr>
            <a:spLocks noChangeShapeType="1"/>
          </p:cNvSpPr>
          <p:nvPr/>
        </p:nvSpPr>
        <p:spPr bwMode="auto">
          <a:xfrm flipV="1">
            <a:off x="6351361" y="1341211"/>
            <a:ext cx="1454150" cy="252413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en-GB">
              <a:latin typeface="+mj-lt"/>
            </a:endParaRPr>
          </a:p>
        </p:txBody>
      </p:sp>
      <p:sp>
        <p:nvSpPr>
          <p:cNvPr id="12" name="Line 18"/>
          <p:cNvSpPr>
            <a:spLocks noChangeShapeType="1"/>
          </p:cNvSpPr>
          <p:nvPr/>
        </p:nvSpPr>
        <p:spPr bwMode="auto">
          <a:xfrm>
            <a:off x="6351361" y="1880961"/>
            <a:ext cx="1454150" cy="182563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en-GB">
              <a:latin typeface="+mj-lt"/>
            </a:endParaRPr>
          </a:p>
        </p:txBody>
      </p:sp>
      <p:sp>
        <p:nvSpPr>
          <p:cNvPr id="13" name="Line 19"/>
          <p:cNvSpPr>
            <a:spLocks noChangeShapeType="1"/>
          </p:cNvSpPr>
          <p:nvPr/>
        </p:nvSpPr>
        <p:spPr bwMode="auto">
          <a:xfrm flipH="1">
            <a:off x="3839936" y="1880961"/>
            <a:ext cx="1585913" cy="36512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en-GB">
              <a:latin typeface="+mj-lt"/>
            </a:endParaRPr>
          </a:p>
        </p:txBody>
      </p:sp>
      <p:sp>
        <p:nvSpPr>
          <p:cNvPr id="14" name="Line 20"/>
          <p:cNvSpPr>
            <a:spLocks noChangeShapeType="1"/>
          </p:cNvSpPr>
          <p:nvPr/>
        </p:nvSpPr>
        <p:spPr bwMode="auto">
          <a:xfrm flipH="1" flipV="1">
            <a:off x="3679599" y="1341211"/>
            <a:ext cx="1746250" cy="252413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en-GB">
              <a:latin typeface="+mj-lt"/>
            </a:endParaRPr>
          </a:p>
        </p:txBody>
      </p:sp>
      <p:sp>
        <p:nvSpPr>
          <p:cNvPr id="15" name="Text Box 21"/>
          <p:cNvSpPr txBox="1">
            <a:spLocks noChangeArrowheads="1"/>
          </p:cNvSpPr>
          <p:nvPr/>
        </p:nvSpPr>
        <p:spPr bwMode="auto">
          <a:xfrm>
            <a:off x="8657425" y="3493861"/>
            <a:ext cx="17414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>
                <a:latin typeface="+mj-lt"/>
              </a:rPr>
              <a:t>Multiplicity</a:t>
            </a:r>
          </a:p>
        </p:txBody>
      </p:sp>
      <p:sp>
        <p:nvSpPr>
          <p:cNvPr id="16" name="Text Box 22"/>
          <p:cNvSpPr txBox="1">
            <a:spLocks noChangeArrowheads="1"/>
          </p:cNvSpPr>
          <p:nvPr/>
        </p:nvSpPr>
        <p:spPr bwMode="auto">
          <a:xfrm>
            <a:off x="5259161" y="2963636"/>
            <a:ext cx="218757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b="1" i="1" dirty="0">
                <a:latin typeface="+mj-lt"/>
              </a:rPr>
              <a:t>Relationship</a:t>
            </a:r>
          </a:p>
        </p:txBody>
      </p:sp>
      <p:sp>
        <p:nvSpPr>
          <p:cNvPr id="17" name="Text Box 23"/>
          <p:cNvSpPr txBox="1">
            <a:spLocks noChangeArrowheads="1"/>
          </p:cNvSpPr>
          <p:nvPr/>
        </p:nvSpPr>
        <p:spPr bwMode="auto">
          <a:xfrm>
            <a:off x="2725511" y="2658836"/>
            <a:ext cx="955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 dirty="0">
                <a:latin typeface="+mj-lt"/>
              </a:rPr>
              <a:t>Type</a:t>
            </a:r>
          </a:p>
        </p:txBody>
      </p:sp>
      <p:sp>
        <p:nvSpPr>
          <p:cNvPr id="18" name="Text Box 24"/>
          <p:cNvSpPr txBox="1">
            <a:spLocks noChangeArrowheads="1"/>
          </p:cNvSpPr>
          <p:nvPr/>
        </p:nvSpPr>
        <p:spPr bwMode="auto">
          <a:xfrm>
            <a:off x="1922236" y="3493861"/>
            <a:ext cx="19573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 dirty="0">
                <a:latin typeface="+mj-lt"/>
              </a:rPr>
              <a:t>Occurrence</a:t>
            </a:r>
          </a:p>
        </p:txBody>
      </p:sp>
      <p:sp>
        <p:nvSpPr>
          <p:cNvPr id="19" name="Line 25"/>
          <p:cNvSpPr>
            <a:spLocks noChangeShapeType="1"/>
          </p:cNvSpPr>
          <p:nvPr/>
        </p:nvSpPr>
        <p:spPr bwMode="auto">
          <a:xfrm flipH="1">
            <a:off x="3681186" y="3311299"/>
            <a:ext cx="1585913" cy="36512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en-GB">
              <a:latin typeface="+mj-lt"/>
            </a:endParaRPr>
          </a:p>
        </p:txBody>
      </p:sp>
      <p:sp>
        <p:nvSpPr>
          <p:cNvPr id="20" name="Line 26"/>
          <p:cNvSpPr>
            <a:spLocks noChangeShapeType="1"/>
          </p:cNvSpPr>
          <p:nvPr/>
        </p:nvSpPr>
        <p:spPr bwMode="auto">
          <a:xfrm flipH="1" flipV="1">
            <a:off x="3520849" y="2771549"/>
            <a:ext cx="1746250" cy="252412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en-GB">
              <a:latin typeface="+mj-lt"/>
            </a:endParaRPr>
          </a:p>
        </p:txBody>
      </p:sp>
      <p:sp>
        <p:nvSpPr>
          <p:cNvPr id="21" name="Text Box 27"/>
          <p:cNvSpPr txBox="1">
            <a:spLocks noChangeArrowheads="1"/>
          </p:cNvSpPr>
          <p:nvPr/>
        </p:nvSpPr>
        <p:spPr bwMode="auto">
          <a:xfrm>
            <a:off x="8630438" y="2771549"/>
            <a:ext cx="21002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>
                <a:latin typeface="+mj-lt"/>
              </a:rPr>
              <a:t>Degree</a:t>
            </a:r>
          </a:p>
        </p:txBody>
      </p:sp>
      <p:sp>
        <p:nvSpPr>
          <p:cNvPr id="22" name="Line 28"/>
          <p:cNvSpPr>
            <a:spLocks noChangeShapeType="1"/>
          </p:cNvSpPr>
          <p:nvPr/>
        </p:nvSpPr>
        <p:spPr bwMode="auto">
          <a:xfrm flipV="1">
            <a:off x="7543801" y="2963636"/>
            <a:ext cx="1086638" cy="198438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en-GB">
              <a:latin typeface="+mj-lt"/>
            </a:endParaRPr>
          </a:p>
        </p:txBody>
      </p:sp>
      <p:sp>
        <p:nvSpPr>
          <p:cNvPr id="23" name="Line 29"/>
          <p:cNvSpPr>
            <a:spLocks noChangeShapeType="1"/>
          </p:cNvSpPr>
          <p:nvPr/>
        </p:nvSpPr>
        <p:spPr bwMode="auto">
          <a:xfrm>
            <a:off x="7442988" y="3311299"/>
            <a:ext cx="1187450" cy="36512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en-GB">
              <a:latin typeface="+mj-lt"/>
            </a:endParaRPr>
          </a:p>
        </p:txBody>
      </p:sp>
      <p:sp>
        <p:nvSpPr>
          <p:cNvPr id="24" name="Line 30"/>
          <p:cNvSpPr>
            <a:spLocks noChangeShapeType="1"/>
          </p:cNvSpPr>
          <p:nvPr/>
        </p:nvSpPr>
        <p:spPr bwMode="auto">
          <a:xfrm flipH="1">
            <a:off x="7912214" y="3825649"/>
            <a:ext cx="1382712" cy="4318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en-GB">
              <a:latin typeface="+mj-lt"/>
            </a:endParaRPr>
          </a:p>
        </p:txBody>
      </p:sp>
      <p:sp>
        <p:nvSpPr>
          <p:cNvPr id="25" name="Line 31"/>
          <p:cNvSpPr>
            <a:spLocks noChangeShapeType="1"/>
          </p:cNvSpPr>
          <p:nvPr/>
        </p:nvSpPr>
        <p:spPr bwMode="auto">
          <a:xfrm>
            <a:off x="9675926" y="3801836"/>
            <a:ext cx="434975" cy="4318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en-GB">
              <a:latin typeface="+mj-lt"/>
            </a:endParaRPr>
          </a:p>
        </p:txBody>
      </p:sp>
      <p:sp>
        <p:nvSpPr>
          <p:cNvPr id="26" name="Text Box 32"/>
          <p:cNvSpPr txBox="1">
            <a:spLocks noChangeArrowheads="1"/>
          </p:cNvSpPr>
          <p:nvPr/>
        </p:nvSpPr>
        <p:spPr bwMode="auto">
          <a:xfrm>
            <a:off x="5476649" y="5251224"/>
            <a:ext cx="184943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b="1" i="1" dirty="0">
                <a:latin typeface="+mj-lt"/>
              </a:rPr>
              <a:t>Attribute</a:t>
            </a:r>
          </a:p>
        </p:txBody>
      </p:sp>
      <p:sp>
        <p:nvSpPr>
          <p:cNvPr id="27" name="Text Box 33"/>
          <p:cNvSpPr txBox="1">
            <a:spLocks noChangeArrowheads="1"/>
          </p:cNvSpPr>
          <p:nvPr/>
        </p:nvSpPr>
        <p:spPr bwMode="auto">
          <a:xfrm>
            <a:off x="8570942" y="5021036"/>
            <a:ext cx="2133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>
                <a:latin typeface="+mj-lt"/>
              </a:rPr>
              <a:t>Complex</a:t>
            </a:r>
          </a:p>
        </p:txBody>
      </p:sp>
      <p:sp>
        <p:nvSpPr>
          <p:cNvPr id="28" name="Text Box 34"/>
          <p:cNvSpPr txBox="1">
            <a:spLocks noChangeArrowheads="1"/>
          </p:cNvSpPr>
          <p:nvPr/>
        </p:nvSpPr>
        <p:spPr bwMode="auto">
          <a:xfrm>
            <a:off x="8585229" y="5744936"/>
            <a:ext cx="2133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>
                <a:latin typeface="+mj-lt"/>
              </a:rPr>
              <a:t>Simple</a:t>
            </a:r>
          </a:p>
        </p:txBody>
      </p:sp>
      <p:sp>
        <p:nvSpPr>
          <p:cNvPr id="29" name="Text Box 35"/>
          <p:cNvSpPr txBox="1">
            <a:spLocks noChangeArrowheads="1"/>
          </p:cNvSpPr>
          <p:nvPr/>
        </p:nvSpPr>
        <p:spPr bwMode="auto">
          <a:xfrm>
            <a:off x="2331811" y="4892449"/>
            <a:ext cx="23828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 dirty="0">
                <a:latin typeface="+mj-lt"/>
              </a:rPr>
              <a:t>Single valued</a:t>
            </a:r>
          </a:p>
        </p:txBody>
      </p:sp>
      <p:sp>
        <p:nvSpPr>
          <p:cNvPr id="30" name="Text Box 36"/>
          <p:cNvSpPr txBox="1">
            <a:spLocks noChangeArrowheads="1"/>
          </p:cNvSpPr>
          <p:nvPr/>
        </p:nvSpPr>
        <p:spPr bwMode="auto">
          <a:xfrm>
            <a:off x="2331811" y="5681436"/>
            <a:ext cx="23828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>
                <a:latin typeface="+mj-lt"/>
              </a:rPr>
              <a:t>Multi valued</a:t>
            </a:r>
          </a:p>
        </p:txBody>
      </p:sp>
      <p:sp>
        <p:nvSpPr>
          <p:cNvPr id="31" name="Line 37"/>
          <p:cNvSpPr>
            <a:spLocks noChangeShapeType="1"/>
          </p:cNvSpPr>
          <p:nvPr/>
        </p:nvSpPr>
        <p:spPr bwMode="auto">
          <a:xfrm flipV="1">
            <a:off x="7108854" y="5155974"/>
            <a:ext cx="1462088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en-GB">
              <a:latin typeface="+mj-lt"/>
            </a:endParaRPr>
          </a:p>
        </p:txBody>
      </p:sp>
      <p:sp>
        <p:nvSpPr>
          <p:cNvPr id="32" name="Line 38"/>
          <p:cNvSpPr>
            <a:spLocks noChangeShapeType="1"/>
          </p:cNvSpPr>
          <p:nvPr/>
        </p:nvSpPr>
        <p:spPr bwMode="auto">
          <a:xfrm>
            <a:off x="7108854" y="5536974"/>
            <a:ext cx="1462088" cy="4127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en-GB">
              <a:latin typeface="+mj-lt"/>
            </a:endParaRPr>
          </a:p>
        </p:txBody>
      </p:sp>
      <p:sp>
        <p:nvSpPr>
          <p:cNvPr id="33" name="Line 39"/>
          <p:cNvSpPr>
            <a:spLocks noChangeShapeType="1"/>
          </p:cNvSpPr>
          <p:nvPr/>
        </p:nvSpPr>
        <p:spPr bwMode="auto">
          <a:xfrm flipH="1" flipV="1">
            <a:off x="4255861" y="5049611"/>
            <a:ext cx="987425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en-GB">
              <a:latin typeface="+mj-lt"/>
            </a:endParaRPr>
          </a:p>
        </p:txBody>
      </p:sp>
      <p:sp>
        <p:nvSpPr>
          <p:cNvPr id="34" name="Line 40"/>
          <p:cNvSpPr>
            <a:spLocks noChangeShapeType="1"/>
          </p:cNvSpPr>
          <p:nvPr/>
        </p:nvSpPr>
        <p:spPr bwMode="auto">
          <a:xfrm flipH="1">
            <a:off x="4103461" y="5463949"/>
            <a:ext cx="1117600" cy="4127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en-GB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10702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Recursive </a:t>
            </a:r>
            <a:r>
              <a:rPr lang="en-US" dirty="0" smtClean="0"/>
              <a:t>relationships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en-US" sz="4000" b="1" dirty="0"/>
              <a:t>Recursive Relationship</a:t>
            </a:r>
          </a:p>
          <a:p>
            <a:pPr lvl="1">
              <a:lnSpc>
                <a:spcPct val="120000"/>
              </a:lnSpc>
            </a:pPr>
            <a:r>
              <a:rPr lang="en-US" altLang="en-US" sz="3600" dirty="0"/>
              <a:t>Relationship type where same entity type participates more than once in different roles. 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en-US" sz="40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4000" dirty="0"/>
              <a:t>Relationships may be given role names to indicate purpose that each participating entity type plays in a relationship. </a:t>
            </a:r>
            <a:endParaRPr lang="en-US" altLang="en-US" sz="3600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8551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Recursive relationships</a:t>
            </a:r>
            <a:endParaRPr lang="ru-RU" dirty="0"/>
          </a:p>
        </p:txBody>
      </p:sp>
      <p:pic>
        <p:nvPicPr>
          <p:cNvPr id="4" name="Picture 5" descr="D:\Database System 3e_tiff\Ch11-tif\DS3-Figure 11-09.tif"/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1" y="969401"/>
            <a:ext cx="12119367" cy="5591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035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Relationship attributes</a:t>
            </a:r>
            <a:endParaRPr lang="ru-RU" dirty="0"/>
          </a:p>
        </p:txBody>
      </p:sp>
      <p:pic>
        <p:nvPicPr>
          <p:cNvPr id="4" name="Picture 5" descr="D:\Database System 3e_tiff\Ch11-tif\DS3-Figure 11-13.tif"/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04" y="777293"/>
            <a:ext cx="10459453" cy="5852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6440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163513" y="130175"/>
            <a:ext cx="9112834" cy="522288"/>
          </a:xfrm>
        </p:spPr>
        <p:txBody>
          <a:bodyPr/>
          <a:lstStyle/>
          <a:p>
            <a:r>
              <a:rPr lang="en-AU" altLang="ru-RU" sz="3600" dirty="0"/>
              <a:t>N-</a:t>
            </a:r>
            <a:r>
              <a:rPr lang="en-AU" altLang="ru-RU" sz="3600" dirty="0" err="1"/>
              <a:t>ary</a:t>
            </a:r>
            <a:r>
              <a:rPr lang="en-AU" altLang="ru-RU" sz="3600" dirty="0"/>
              <a:t> relationships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altLang="en-US" sz="4000" b="1" dirty="0"/>
              <a:t>Degree</a:t>
            </a:r>
            <a:r>
              <a:rPr lang="en-GB" altLang="en-US" sz="4000" dirty="0"/>
              <a:t> of a Relationship</a:t>
            </a:r>
          </a:p>
          <a:p>
            <a:pPr lvl="1"/>
            <a:r>
              <a:rPr lang="en-GB" altLang="en-US" sz="4000" dirty="0"/>
              <a:t>Number of participating entities in  relationship.</a:t>
            </a:r>
          </a:p>
          <a:p>
            <a:pPr lvl="1">
              <a:lnSpc>
                <a:spcPct val="50000"/>
              </a:lnSpc>
            </a:pPr>
            <a:endParaRPr lang="en-GB" altLang="en-US" sz="4000" dirty="0"/>
          </a:p>
          <a:p>
            <a:pPr marL="0" indent="0">
              <a:buNone/>
            </a:pPr>
            <a:r>
              <a:rPr lang="en-AU" altLang="en-US" sz="4000" dirty="0">
                <a:cs typeface="Times New Roman" panose="02020603050405020304" pitchFamily="18" charset="0"/>
              </a:rPr>
              <a:t>Relationship of degree:</a:t>
            </a:r>
          </a:p>
          <a:p>
            <a:pPr lvl="1"/>
            <a:r>
              <a:rPr lang="en-AU" altLang="en-US" sz="4000" dirty="0">
                <a:cs typeface="Times New Roman" panose="02020603050405020304" pitchFamily="18" charset="0"/>
              </a:rPr>
              <a:t>two is binary;</a:t>
            </a:r>
          </a:p>
          <a:p>
            <a:pPr lvl="1"/>
            <a:r>
              <a:rPr lang="en-AU" altLang="en-US" sz="4000" dirty="0">
                <a:cs typeface="Times New Roman" panose="02020603050405020304" pitchFamily="18" charset="0"/>
              </a:rPr>
              <a:t>three is </a:t>
            </a:r>
            <a:r>
              <a:rPr lang="en-AU" altLang="en-US" sz="4000" b="1" dirty="0">
                <a:cs typeface="Times New Roman" panose="02020603050405020304" pitchFamily="18" charset="0"/>
              </a:rPr>
              <a:t>ternary</a:t>
            </a:r>
            <a:r>
              <a:rPr lang="en-AU" altLang="en-US" sz="4000" dirty="0">
                <a:cs typeface="Times New Roman" panose="02020603050405020304" pitchFamily="18" charset="0"/>
              </a:rPr>
              <a:t>;</a:t>
            </a:r>
          </a:p>
          <a:p>
            <a:pPr lvl="1"/>
            <a:r>
              <a:rPr lang="en-AU" altLang="en-US" sz="4000" dirty="0">
                <a:cs typeface="Times New Roman" panose="02020603050405020304" pitchFamily="18" charset="0"/>
              </a:rPr>
              <a:t>four is </a:t>
            </a:r>
            <a:r>
              <a:rPr lang="en-AU" altLang="en-US" sz="4000" b="1" dirty="0">
                <a:cs typeface="Times New Roman" panose="02020603050405020304" pitchFamily="18" charset="0"/>
              </a:rPr>
              <a:t>quaternary</a:t>
            </a:r>
            <a:r>
              <a:rPr lang="en-AU" altLang="en-US" sz="4000" dirty="0">
                <a:cs typeface="Times New Roman" panose="02020603050405020304" pitchFamily="18" charset="0"/>
              </a:rPr>
              <a:t>.</a:t>
            </a:r>
            <a:endParaRPr lang="en-GB" altLang="en-US" sz="40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302905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163512" y="130175"/>
            <a:ext cx="9028613" cy="522288"/>
          </a:xfrm>
        </p:spPr>
        <p:txBody>
          <a:bodyPr/>
          <a:lstStyle/>
          <a:p>
            <a:r>
              <a:rPr lang="en-AU" altLang="ru-RU" sz="3600" dirty="0"/>
              <a:t>N-</a:t>
            </a:r>
            <a:r>
              <a:rPr lang="en-AU" altLang="ru-RU" sz="3600" dirty="0" err="1"/>
              <a:t>ary</a:t>
            </a:r>
            <a:r>
              <a:rPr lang="en-AU" altLang="ru-RU" sz="3600" dirty="0"/>
              <a:t> </a:t>
            </a:r>
            <a:r>
              <a:rPr lang="en-AU" altLang="ru-RU" sz="3600" dirty="0" smtClean="0"/>
              <a:t>relationships – ternary</a:t>
            </a:r>
            <a:endParaRPr lang="ru-RU" sz="3600" dirty="0"/>
          </a:p>
        </p:txBody>
      </p:sp>
      <p:pic>
        <p:nvPicPr>
          <p:cNvPr id="4" name="Picture 5" descr="D:\Database System 3e_tiff\Ch11-tif\DS3-Figure 11-07.t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25" y="1010650"/>
            <a:ext cx="11000754" cy="5510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7009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163513" y="130175"/>
            <a:ext cx="9028613" cy="522288"/>
          </a:xfrm>
        </p:spPr>
        <p:txBody>
          <a:bodyPr/>
          <a:lstStyle/>
          <a:p>
            <a:r>
              <a:rPr lang="en-AU" altLang="ru-RU" sz="3600" dirty="0"/>
              <a:t>N-</a:t>
            </a:r>
            <a:r>
              <a:rPr lang="en-AU" altLang="ru-RU" sz="3600" dirty="0" err="1"/>
              <a:t>ary</a:t>
            </a:r>
            <a:r>
              <a:rPr lang="en-AU" altLang="ru-RU" sz="3600" dirty="0"/>
              <a:t> </a:t>
            </a:r>
            <a:r>
              <a:rPr lang="en-AU" altLang="ru-RU" sz="3600" dirty="0" smtClean="0"/>
              <a:t>relationships – </a:t>
            </a:r>
            <a:r>
              <a:rPr lang="en-AU" altLang="en-US" sz="3600" dirty="0" smtClean="0">
                <a:cs typeface="Times New Roman" panose="02020603050405020304" pitchFamily="18" charset="0"/>
              </a:rPr>
              <a:t>quaternary</a:t>
            </a:r>
            <a:endParaRPr lang="ru-RU" sz="3600" dirty="0"/>
          </a:p>
        </p:txBody>
      </p:sp>
      <p:pic>
        <p:nvPicPr>
          <p:cNvPr id="4" name="Picture 5" descr="D:\Database System 3e_tiff\Ch11-tif\DS3-Figure 11-08.t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95" y="853463"/>
            <a:ext cx="11249526" cy="5644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3800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163513" y="130175"/>
            <a:ext cx="8980487" cy="522288"/>
          </a:xfrm>
        </p:spPr>
        <p:txBody>
          <a:bodyPr/>
          <a:lstStyle/>
          <a:p>
            <a:r>
              <a:rPr lang="en-AU" altLang="ru-RU" dirty="0"/>
              <a:t>N</a:t>
            </a:r>
            <a:r>
              <a:rPr lang="en-AU" altLang="ru-RU" dirty="0" smtClean="0"/>
              <a:t>-</a:t>
            </a:r>
            <a:r>
              <a:rPr lang="en-AU" altLang="ru-RU" dirty="0" err="1" smtClean="0"/>
              <a:t>ary</a:t>
            </a:r>
            <a:r>
              <a:rPr lang="en-AU" altLang="ru-RU" dirty="0" smtClean="0"/>
              <a:t> relationships - multiplicity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altLang="ru-RU" sz="4800" dirty="0">
                <a:cs typeface="Times New Roman" panose="02020603050405020304" pitchFamily="18" charset="0"/>
              </a:rPr>
              <a:t>Multiplicity for Complex Relationships </a:t>
            </a:r>
          </a:p>
          <a:p>
            <a:pPr lvl="1"/>
            <a:r>
              <a:rPr lang="en-AU" altLang="ru-RU" sz="5400" dirty="0">
                <a:cs typeface="Times New Roman" panose="02020603050405020304" pitchFamily="18" charset="0"/>
              </a:rPr>
              <a:t>Number (or range) of possible occurrences of an entity type in an n-</a:t>
            </a:r>
            <a:r>
              <a:rPr lang="en-AU" altLang="ru-RU" sz="5400" dirty="0" err="1">
                <a:cs typeface="Times New Roman" panose="02020603050405020304" pitchFamily="18" charset="0"/>
              </a:rPr>
              <a:t>ary</a:t>
            </a:r>
            <a:r>
              <a:rPr lang="en-AU" altLang="ru-RU" sz="5400" dirty="0">
                <a:cs typeface="Times New Roman" panose="02020603050405020304" pitchFamily="18" charset="0"/>
              </a:rPr>
              <a:t> relationship when other (n-1) values are </a:t>
            </a:r>
            <a:r>
              <a:rPr lang="en-AU" altLang="ru-RU" sz="5400" b="1" dirty="0">
                <a:cs typeface="Times New Roman" panose="02020603050405020304" pitchFamily="18" charset="0"/>
              </a:rPr>
              <a:t>fixed</a:t>
            </a:r>
            <a:r>
              <a:rPr lang="en-AU" altLang="ru-RU" sz="5400" dirty="0">
                <a:cs typeface="Times New Roman" panose="02020603050405020304" pitchFamily="18" charset="0"/>
              </a:rPr>
              <a:t>.</a:t>
            </a:r>
            <a:r>
              <a:rPr lang="en-GB" altLang="ru-RU" sz="5400" dirty="0"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807981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163513" y="130175"/>
            <a:ext cx="8992519" cy="522288"/>
          </a:xfrm>
        </p:spPr>
        <p:txBody>
          <a:bodyPr/>
          <a:lstStyle/>
          <a:p>
            <a:r>
              <a:rPr lang="en-AU" altLang="ru-RU" sz="3600" dirty="0"/>
              <a:t>N-</a:t>
            </a:r>
            <a:r>
              <a:rPr lang="en-AU" altLang="ru-RU" sz="3600" dirty="0" err="1"/>
              <a:t>ary</a:t>
            </a:r>
            <a:r>
              <a:rPr lang="en-AU" altLang="ru-RU" sz="3600" dirty="0"/>
              <a:t> </a:t>
            </a:r>
            <a:r>
              <a:rPr lang="en-AU" altLang="ru-RU" sz="3600" dirty="0" smtClean="0"/>
              <a:t>relationships</a:t>
            </a:r>
            <a:r>
              <a:rPr lang="en-US" altLang="ru-RU" sz="3600" dirty="0" smtClean="0"/>
              <a:t> – multiplicity</a:t>
            </a:r>
            <a:endParaRPr lang="ru-RU" sz="3600" dirty="0"/>
          </a:p>
        </p:txBody>
      </p:sp>
      <p:pic>
        <p:nvPicPr>
          <p:cNvPr id="4" name="Picture 5" descr="D:\Database System 3e_tiff\Ch11-tif\DS3-Figure 11-17a.tif"/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451" y="1695917"/>
            <a:ext cx="9529011" cy="4822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697833" y="831866"/>
            <a:ext cx="1037122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>
                <a:cs typeface="Times New Roman" panose="02020603050405020304" pitchFamily="18" charset="0"/>
              </a:rPr>
              <a:t>Ternary relationship called ‘Registers’ with Values for Staff and Branch </a:t>
            </a:r>
            <a:r>
              <a:rPr lang="en-GB" sz="2800" dirty="0" smtClean="0">
                <a:cs typeface="Times New Roman" panose="02020603050405020304" pitchFamily="18" charset="0"/>
              </a:rPr>
              <a:t>entities </a:t>
            </a:r>
            <a:r>
              <a:rPr lang="en-GB" sz="2800" dirty="0">
                <a:cs typeface="Times New Roman" panose="02020603050405020304" pitchFamily="18" charset="0"/>
              </a:rPr>
              <a:t>f</a:t>
            </a:r>
            <a:r>
              <a:rPr lang="en-GB" sz="2800" dirty="0" smtClean="0">
                <a:cs typeface="Times New Roman" panose="02020603050405020304" pitchFamily="18" charset="0"/>
              </a:rPr>
              <a:t>ixed </a:t>
            </a:r>
            <a:endParaRPr lang="en-GB" sz="2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042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163513" y="130175"/>
            <a:ext cx="9064708" cy="522288"/>
          </a:xfrm>
        </p:spPr>
        <p:txBody>
          <a:bodyPr/>
          <a:lstStyle/>
          <a:p>
            <a:r>
              <a:rPr lang="en-AU" altLang="ru-RU" dirty="0"/>
              <a:t>N-</a:t>
            </a:r>
            <a:r>
              <a:rPr lang="en-AU" altLang="ru-RU" dirty="0" err="1"/>
              <a:t>ary</a:t>
            </a:r>
            <a:r>
              <a:rPr lang="en-AU" altLang="ru-RU" dirty="0"/>
              <a:t> relationships</a:t>
            </a:r>
            <a:r>
              <a:rPr lang="en-US" altLang="ru-RU" dirty="0"/>
              <a:t> – </a:t>
            </a:r>
            <a:r>
              <a:rPr lang="en-US" altLang="ru-RU" dirty="0" smtClean="0"/>
              <a:t>multiplicity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4000" dirty="0"/>
              <a:t>Try to detect multiplicities for remaining participating entities in ternary relationship </a:t>
            </a:r>
            <a:r>
              <a:rPr lang="en-AU" altLang="en-US" sz="4000" b="1" i="1" dirty="0"/>
              <a:t>Registers</a:t>
            </a:r>
            <a:r>
              <a:rPr lang="en-AU" altLang="en-US" sz="4000" b="1" dirty="0">
                <a:cs typeface="Times New Roman" panose="02020603050405020304" pitchFamily="18" charset="0"/>
              </a:rPr>
              <a:t> </a:t>
            </a:r>
            <a:endParaRPr lang="en-AU" altLang="en-US" sz="4000" b="1" dirty="0" smtClean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AU" altLang="en-US" sz="4000" b="1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AU" altLang="en-US" sz="4000" b="1" dirty="0">
                <a:cs typeface="Times New Roman" panose="02020603050405020304" pitchFamily="18" charset="0"/>
              </a:rPr>
              <a:t>Note: You can make appropriate assumptions and detect multiplicities accordingly</a:t>
            </a:r>
            <a:endParaRPr lang="ru-RU" altLang="en-US" sz="4000" dirty="0"/>
          </a:p>
          <a:p>
            <a:pPr marL="0" indent="0">
              <a:buNone/>
            </a:pP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84448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163513" y="130175"/>
            <a:ext cx="9136898" cy="522288"/>
          </a:xfrm>
        </p:spPr>
        <p:txBody>
          <a:bodyPr/>
          <a:lstStyle/>
          <a:p>
            <a:r>
              <a:rPr lang="en-GB" altLang="en-US" dirty="0"/>
              <a:t>Enhanced Entity-Relationship Model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1"/>
          </p:nvPr>
        </p:nvSpPr>
        <p:spPr>
          <a:xfrm>
            <a:off x="469232" y="1143000"/>
            <a:ext cx="11405935" cy="5005388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3600" dirty="0"/>
              <a:t>Semantic concepts are incorporated into the original ER model and called the Enhanced Entity-Relationship (EER) model</a:t>
            </a:r>
            <a:r>
              <a:rPr lang="en-GB" altLang="en-US" sz="3600" dirty="0" smtClean="0"/>
              <a:t>.</a:t>
            </a:r>
          </a:p>
          <a:p>
            <a:pPr marL="0" indent="0">
              <a:buNone/>
            </a:pPr>
            <a:endParaRPr lang="en-GB" altLang="en-US" sz="3600" dirty="0"/>
          </a:p>
          <a:p>
            <a:pPr marL="0" indent="0">
              <a:buNone/>
            </a:pPr>
            <a:r>
              <a:rPr lang="en-GB" altLang="en-US" sz="3600" dirty="0"/>
              <a:t>Examples of additional concepts of EER model are:</a:t>
            </a:r>
          </a:p>
          <a:p>
            <a:pPr lvl="1"/>
            <a:r>
              <a:rPr lang="en-GB" altLang="en-US" sz="3600" b="1" dirty="0"/>
              <a:t>specialization/generalization</a:t>
            </a:r>
            <a:r>
              <a:rPr lang="en-GB" altLang="en-US" sz="3600" dirty="0" smtClean="0"/>
              <a:t> (subclass/superclass);</a:t>
            </a:r>
            <a:endParaRPr lang="en-GB" altLang="en-US" sz="3600" dirty="0"/>
          </a:p>
          <a:p>
            <a:pPr lvl="1"/>
            <a:r>
              <a:rPr lang="en-GB" altLang="en-US" sz="3600" b="1" dirty="0"/>
              <a:t>aggregation</a:t>
            </a:r>
            <a:r>
              <a:rPr lang="en-GB" altLang="en-US" sz="3600" dirty="0"/>
              <a:t>;</a:t>
            </a:r>
          </a:p>
          <a:p>
            <a:pPr lvl="1"/>
            <a:r>
              <a:rPr lang="en-GB" altLang="en-US" sz="3600" b="1" dirty="0"/>
              <a:t>composition</a:t>
            </a:r>
            <a:r>
              <a:rPr lang="en-GB" altLang="en-US" sz="3600" dirty="0"/>
              <a:t>.</a:t>
            </a:r>
          </a:p>
          <a:p>
            <a:pPr marL="0" indent="0">
              <a:buNone/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943708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163513" y="130175"/>
            <a:ext cx="9064708" cy="522288"/>
          </a:xfrm>
        </p:spPr>
        <p:txBody>
          <a:bodyPr/>
          <a:lstStyle/>
          <a:p>
            <a:r>
              <a:rPr lang="en-AU" altLang="en-US" dirty="0" smtClean="0">
                <a:cs typeface="Times New Roman" panose="02020603050405020304" pitchFamily="18" charset="0"/>
              </a:rPr>
              <a:t>EER - Specialisation/Generalisation</a:t>
            </a:r>
            <a:endParaRPr lang="en-AU" altLang="en-US" dirty="0"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altLang="en-US" sz="4800" dirty="0"/>
              <a:t>Superclass</a:t>
            </a:r>
          </a:p>
          <a:p>
            <a:pPr lvl="1">
              <a:buSzPct val="75000"/>
            </a:pPr>
            <a:r>
              <a:rPr lang="en-AU" altLang="en-US" sz="3600" dirty="0">
                <a:cs typeface="Times New Roman" panose="02020603050405020304" pitchFamily="18" charset="0"/>
              </a:rPr>
              <a:t>An entity type that includes one or more distinct subgroupings of its occurrences.</a:t>
            </a:r>
            <a:r>
              <a:rPr lang="en-GB" altLang="en-US" sz="3600" dirty="0"/>
              <a:t> </a:t>
            </a:r>
          </a:p>
          <a:p>
            <a:pPr>
              <a:lnSpc>
                <a:spcPct val="50000"/>
              </a:lnSpc>
            </a:pPr>
            <a:endParaRPr lang="en-GB" altLang="en-US" sz="4800" dirty="0"/>
          </a:p>
          <a:p>
            <a:r>
              <a:rPr lang="en-GB" altLang="en-US" sz="4800" dirty="0"/>
              <a:t>Subclass</a:t>
            </a:r>
          </a:p>
          <a:p>
            <a:pPr lvl="1">
              <a:buSzPct val="75000"/>
            </a:pPr>
            <a:r>
              <a:rPr lang="en-AU" altLang="en-US" sz="3600" dirty="0">
                <a:cs typeface="Times New Roman" panose="02020603050405020304" pitchFamily="18" charset="0"/>
              </a:rPr>
              <a:t>A distinct subgrouping of occurrences of an entity type.</a:t>
            </a:r>
            <a:r>
              <a:rPr lang="en-GB" altLang="en-US" sz="3600" dirty="0"/>
              <a:t> </a:t>
            </a:r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658740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163513" y="130175"/>
            <a:ext cx="8956424" cy="522288"/>
          </a:xfrm>
        </p:spPr>
        <p:txBody>
          <a:bodyPr/>
          <a:lstStyle/>
          <a:p>
            <a:r>
              <a:rPr lang="en-AU" altLang="en-US" dirty="0">
                <a:cs typeface="Times New Roman" panose="02020603050405020304" pitchFamily="18" charset="0"/>
              </a:rPr>
              <a:t>EER - </a:t>
            </a:r>
            <a:r>
              <a:rPr lang="en-AU" altLang="en-US" dirty="0" smtClean="0">
                <a:cs typeface="Times New Roman" panose="02020603050405020304" pitchFamily="18" charset="0"/>
              </a:rPr>
              <a:t>Specialisation/Generalisation</a:t>
            </a:r>
            <a:endParaRPr lang="en-AU" altLang="en-US" dirty="0"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altLang="en-US" sz="4000" dirty="0"/>
              <a:t>Superclass/subclass relationship is one-to-one (1:1). </a:t>
            </a:r>
          </a:p>
          <a:p>
            <a:endParaRPr lang="en-GB" altLang="en-US" sz="4000" dirty="0"/>
          </a:p>
          <a:p>
            <a:r>
              <a:rPr lang="en-GB" altLang="en-US" sz="4000" dirty="0"/>
              <a:t>Superclass may contain overlapping or distinct subclasses. </a:t>
            </a:r>
          </a:p>
          <a:p>
            <a:endParaRPr lang="en-GB" altLang="en-US" sz="4000" dirty="0"/>
          </a:p>
          <a:p>
            <a:r>
              <a:rPr lang="en-GB" altLang="en-US" sz="4000" dirty="0"/>
              <a:t>Not all members of a superclass need to be a member of a subclass.</a:t>
            </a:r>
          </a:p>
          <a:p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4222733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163513" y="130175"/>
            <a:ext cx="8920329" cy="522288"/>
          </a:xfrm>
        </p:spPr>
        <p:txBody>
          <a:bodyPr/>
          <a:lstStyle/>
          <a:p>
            <a:r>
              <a:rPr lang="en-AU" altLang="en-US" dirty="0">
                <a:cs typeface="Times New Roman" panose="02020603050405020304" pitchFamily="18" charset="0"/>
              </a:rPr>
              <a:t>EER - </a:t>
            </a:r>
            <a:r>
              <a:rPr lang="en-AU" altLang="en-US" dirty="0" smtClean="0">
                <a:cs typeface="Times New Roman" panose="02020603050405020304" pitchFamily="18" charset="0"/>
              </a:rPr>
              <a:t>Specialisation/Generalisation</a:t>
            </a:r>
            <a:endParaRPr lang="en-AU" altLang="en-US" dirty="0"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altLang="en-US" sz="4400" dirty="0"/>
              <a:t>Attribute Inheritance</a:t>
            </a:r>
          </a:p>
          <a:p>
            <a:pPr lvl="1"/>
            <a:r>
              <a:rPr lang="en-GB" altLang="en-US" sz="4400" dirty="0"/>
              <a:t>An entity in a subclass represents same ‘real world’ object as in superclass, and may possess subclass-specific attributes, as well as those associated with the superclass. </a:t>
            </a:r>
          </a:p>
          <a:p>
            <a:pPr marL="0" indent="0">
              <a:buNone/>
            </a:pP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71301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163513" y="130175"/>
            <a:ext cx="9052676" cy="522288"/>
          </a:xfrm>
        </p:spPr>
        <p:txBody>
          <a:bodyPr/>
          <a:lstStyle/>
          <a:p>
            <a:r>
              <a:rPr lang="en-AU" altLang="en-US" dirty="0">
                <a:cs typeface="Times New Roman" panose="02020603050405020304" pitchFamily="18" charset="0"/>
              </a:rPr>
              <a:t>EER - </a:t>
            </a:r>
            <a:r>
              <a:rPr lang="en-AU" altLang="en-US" dirty="0" smtClean="0">
                <a:cs typeface="Times New Roman" panose="02020603050405020304" pitchFamily="18" charset="0"/>
              </a:rPr>
              <a:t>Specialisation/Generalisation</a:t>
            </a:r>
            <a:endParaRPr lang="en-AU" altLang="en-US" dirty="0"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AU" altLang="en-US" sz="3600" b="1" dirty="0">
                <a:cs typeface="Times New Roman" panose="02020603050405020304" pitchFamily="18" charset="0"/>
              </a:rPr>
              <a:t>Specialization</a:t>
            </a:r>
            <a:r>
              <a:rPr lang="en-GB" altLang="en-US" sz="3600" dirty="0"/>
              <a:t> </a:t>
            </a:r>
          </a:p>
          <a:p>
            <a:pPr lvl="1">
              <a:buSzPct val="75000"/>
            </a:pPr>
            <a:r>
              <a:rPr lang="en-AU" altLang="en-US" sz="3600" dirty="0">
                <a:cs typeface="Times New Roman" panose="02020603050405020304" pitchFamily="18" charset="0"/>
              </a:rPr>
              <a:t>Process of </a:t>
            </a:r>
            <a:r>
              <a:rPr lang="en-AU" altLang="en-US" sz="3600" dirty="0">
                <a:solidFill>
                  <a:schemeClr val="tx2"/>
                </a:solidFill>
                <a:cs typeface="Times New Roman" panose="02020603050405020304" pitchFamily="18" charset="0"/>
              </a:rPr>
              <a:t>maximizing differences </a:t>
            </a:r>
            <a:r>
              <a:rPr lang="en-AU" altLang="en-US" sz="3600" dirty="0">
                <a:cs typeface="Times New Roman" panose="02020603050405020304" pitchFamily="18" charset="0"/>
              </a:rPr>
              <a:t>between members of an entity by identifying their distinguishing characteristics.</a:t>
            </a:r>
            <a:r>
              <a:rPr lang="en-GB" altLang="en-US" sz="3600" dirty="0"/>
              <a:t> </a:t>
            </a:r>
          </a:p>
          <a:p>
            <a:pPr lvl="1">
              <a:buSzPct val="75000"/>
            </a:pPr>
            <a:endParaRPr lang="en-GB" altLang="en-US" sz="3600" dirty="0"/>
          </a:p>
          <a:p>
            <a:r>
              <a:rPr lang="en-GB" altLang="en-US" sz="3600" b="1" dirty="0"/>
              <a:t>Generalization</a:t>
            </a:r>
          </a:p>
          <a:p>
            <a:pPr lvl="1">
              <a:buSzPct val="75000"/>
            </a:pPr>
            <a:r>
              <a:rPr lang="en-AU" altLang="en-US" sz="3600" dirty="0">
                <a:cs typeface="Times New Roman" panose="02020603050405020304" pitchFamily="18" charset="0"/>
              </a:rPr>
              <a:t>Process of minimizing differences between entities by identifying their </a:t>
            </a:r>
            <a:r>
              <a:rPr lang="en-AU" altLang="en-US" sz="3600" dirty="0">
                <a:solidFill>
                  <a:schemeClr val="tx2"/>
                </a:solidFill>
                <a:cs typeface="Times New Roman" panose="02020603050405020304" pitchFamily="18" charset="0"/>
              </a:rPr>
              <a:t>common</a:t>
            </a:r>
            <a:r>
              <a:rPr lang="en-AU" altLang="en-US" sz="3600" dirty="0">
                <a:cs typeface="Times New Roman" panose="02020603050405020304" pitchFamily="18" charset="0"/>
              </a:rPr>
              <a:t> characteristics.</a:t>
            </a:r>
            <a:r>
              <a:rPr lang="en-GB" altLang="en-US" sz="3600" dirty="0"/>
              <a:t> 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150698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163513" y="130175"/>
            <a:ext cx="9016582" cy="522288"/>
          </a:xfrm>
        </p:spPr>
        <p:txBody>
          <a:bodyPr/>
          <a:lstStyle/>
          <a:p>
            <a:r>
              <a:rPr lang="en-AU" altLang="en-US" dirty="0">
                <a:cs typeface="Times New Roman" panose="02020603050405020304" pitchFamily="18" charset="0"/>
              </a:rPr>
              <a:t>EER - </a:t>
            </a:r>
            <a:r>
              <a:rPr lang="en-AU" altLang="en-US" dirty="0" smtClean="0">
                <a:cs typeface="Times New Roman" panose="02020603050405020304" pitchFamily="18" charset="0"/>
              </a:rPr>
              <a:t>Specialisation/Generalisation</a:t>
            </a:r>
            <a:endParaRPr lang="en-AU" altLang="en-US" dirty="0"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DS3-Figure 12-01"/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359" y="1081617"/>
            <a:ext cx="10953070" cy="5462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4388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163513" y="130175"/>
            <a:ext cx="9016582" cy="522288"/>
          </a:xfrm>
        </p:spPr>
        <p:txBody>
          <a:bodyPr/>
          <a:lstStyle/>
          <a:p>
            <a:r>
              <a:rPr lang="en-AU" altLang="en-US" dirty="0">
                <a:cs typeface="Times New Roman" panose="02020603050405020304" pitchFamily="18" charset="0"/>
              </a:rPr>
              <a:t>EER - </a:t>
            </a:r>
            <a:r>
              <a:rPr lang="en-AU" altLang="en-US" dirty="0" smtClean="0">
                <a:cs typeface="Times New Roman" panose="02020603050405020304" pitchFamily="18" charset="0"/>
              </a:rPr>
              <a:t>Specialisation/Generalisation</a:t>
            </a:r>
            <a:endParaRPr lang="en-AU" altLang="en-US" dirty="0"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DS3-Figure 12-02"/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790" y="872412"/>
            <a:ext cx="8939463" cy="56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0670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163513" y="130175"/>
            <a:ext cx="8908298" cy="522288"/>
          </a:xfrm>
        </p:spPr>
        <p:txBody>
          <a:bodyPr/>
          <a:lstStyle/>
          <a:p>
            <a:r>
              <a:rPr lang="en-AU" altLang="en-US" dirty="0">
                <a:cs typeface="Times New Roman" panose="02020603050405020304" pitchFamily="18" charset="0"/>
              </a:rPr>
              <a:t>EER - </a:t>
            </a:r>
            <a:r>
              <a:rPr lang="en-AU" altLang="en-US" dirty="0" smtClean="0">
                <a:cs typeface="Times New Roman" panose="02020603050405020304" pitchFamily="18" charset="0"/>
              </a:rPr>
              <a:t>Specialisation/Generalisation</a:t>
            </a:r>
            <a:endParaRPr lang="en-AU" altLang="en-US" dirty="0"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DS3-Figure 12-03"/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779" y="924627"/>
            <a:ext cx="9810548" cy="566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0703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163513" y="130175"/>
            <a:ext cx="8944392" cy="522288"/>
          </a:xfrm>
        </p:spPr>
        <p:txBody>
          <a:bodyPr/>
          <a:lstStyle/>
          <a:p>
            <a:r>
              <a:rPr lang="en-AU" altLang="en-US" dirty="0">
                <a:cs typeface="Times New Roman" panose="02020603050405020304" pitchFamily="18" charset="0"/>
              </a:rPr>
              <a:t>EER - </a:t>
            </a:r>
            <a:r>
              <a:rPr lang="en-AU" altLang="en-US" dirty="0" smtClean="0">
                <a:cs typeface="Times New Roman" panose="02020603050405020304" pitchFamily="18" charset="0"/>
              </a:rPr>
              <a:t>Specialisation/Generalisation</a:t>
            </a:r>
            <a:endParaRPr lang="en-AU" altLang="en-US" dirty="0"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DS3-Figure 12-04"/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025" y="770021"/>
            <a:ext cx="7795432" cy="5826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3934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163513" y="130175"/>
            <a:ext cx="9064708" cy="522288"/>
          </a:xfrm>
        </p:spPr>
        <p:txBody>
          <a:bodyPr/>
          <a:lstStyle/>
          <a:p>
            <a:r>
              <a:rPr lang="en-AU" altLang="en-US" sz="3200" dirty="0" smtClean="0">
                <a:cs typeface="Times New Roman" panose="02020603050405020304" pitchFamily="18" charset="0"/>
              </a:rPr>
              <a:t>Specialisation/Generalisation</a:t>
            </a:r>
            <a:r>
              <a:rPr lang="en-US" altLang="en-US" sz="3200" dirty="0" smtClean="0"/>
              <a:t> - constraints</a:t>
            </a:r>
            <a:endParaRPr lang="en-AU" altLang="en-US" sz="3200" dirty="0"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3200" b="1" u="sng" dirty="0"/>
              <a:t>Participation</a:t>
            </a:r>
            <a:r>
              <a:rPr lang="en-GB" sz="3200" dirty="0"/>
              <a:t> constraint</a:t>
            </a:r>
          </a:p>
          <a:p>
            <a:pPr lvl="1"/>
            <a:r>
              <a:rPr lang="en-GB" sz="3200" dirty="0"/>
              <a:t>Determines whether every member in superclass must participate as a member of a subclass. </a:t>
            </a:r>
          </a:p>
          <a:p>
            <a:pPr lvl="1"/>
            <a:r>
              <a:rPr lang="en-GB" sz="3200" dirty="0"/>
              <a:t>May be </a:t>
            </a:r>
            <a:r>
              <a:rPr lang="en-GB" sz="3200" u="sng" dirty="0"/>
              <a:t>mandatory</a:t>
            </a:r>
            <a:r>
              <a:rPr lang="en-GB" sz="3200" dirty="0"/>
              <a:t> (total) or </a:t>
            </a:r>
            <a:r>
              <a:rPr lang="en-GB" sz="3200" u="sng" dirty="0"/>
              <a:t>optional</a:t>
            </a:r>
            <a:r>
              <a:rPr lang="en-GB" sz="3200" dirty="0"/>
              <a:t>. </a:t>
            </a:r>
          </a:p>
          <a:p>
            <a:r>
              <a:rPr lang="en-AU" altLang="en-US" sz="3200" b="1" u="sng" dirty="0" err="1" smtClean="0">
                <a:cs typeface="Times New Roman" panose="02020603050405020304" pitchFamily="18" charset="0"/>
              </a:rPr>
              <a:t>Disjointness</a:t>
            </a:r>
            <a:r>
              <a:rPr lang="en-AU" altLang="en-US" sz="3200" b="1" dirty="0" smtClean="0">
                <a:cs typeface="Times New Roman" panose="02020603050405020304" pitchFamily="18" charset="0"/>
              </a:rPr>
              <a:t> </a:t>
            </a:r>
            <a:r>
              <a:rPr lang="en-AU" altLang="en-US" sz="3200" dirty="0">
                <a:cs typeface="Times New Roman" panose="02020603050405020304" pitchFamily="18" charset="0"/>
              </a:rPr>
              <a:t>constraint </a:t>
            </a:r>
          </a:p>
          <a:p>
            <a:pPr lvl="1"/>
            <a:r>
              <a:rPr lang="en-AU" altLang="en-US" sz="3200" dirty="0">
                <a:cs typeface="Times New Roman" panose="02020603050405020304" pitchFamily="18" charset="0"/>
              </a:rPr>
              <a:t>Describes relationship between members of the subclasses and indicates whether member of a superclass can be a member of one, or more than one, subclass.</a:t>
            </a:r>
            <a:r>
              <a:rPr lang="en-GB" altLang="en-US" sz="3200" dirty="0"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GB" altLang="en-US" sz="3200" dirty="0">
                <a:cs typeface="Times New Roman" panose="02020603050405020304" pitchFamily="18" charset="0"/>
              </a:rPr>
              <a:t>May be </a:t>
            </a:r>
            <a:r>
              <a:rPr lang="en-GB" altLang="en-US" sz="3200" u="sng" dirty="0">
                <a:cs typeface="Times New Roman" panose="02020603050405020304" pitchFamily="18" charset="0"/>
              </a:rPr>
              <a:t>disjoint</a:t>
            </a:r>
            <a:r>
              <a:rPr lang="en-GB" altLang="en-US" sz="3200" dirty="0">
                <a:cs typeface="Times New Roman" panose="02020603050405020304" pitchFamily="18" charset="0"/>
              </a:rPr>
              <a:t> </a:t>
            </a:r>
            <a:r>
              <a:rPr lang="en-GB" altLang="en-US" sz="3200" u="sng" dirty="0">
                <a:cs typeface="Times New Roman" panose="02020603050405020304" pitchFamily="18" charset="0"/>
              </a:rPr>
              <a:t>(OR)</a:t>
            </a:r>
            <a:r>
              <a:rPr lang="en-GB" altLang="en-US" sz="3200" dirty="0">
                <a:cs typeface="Times New Roman" panose="02020603050405020304" pitchFamily="18" charset="0"/>
              </a:rPr>
              <a:t> or </a:t>
            </a:r>
            <a:r>
              <a:rPr lang="en-GB" altLang="en-US" sz="3200" u="sng" dirty="0">
                <a:cs typeface="Times New Roman" panose="02020603050405020304" pitchFamily="18" charset="0"/>
              </a:rPr>
              <a:t>overlapping</a:t>
            </a:r>
            <a:r>
              <a:rPr lang="en-GB" altLang="en-US" sz="3200" dirty="0">
                <a:cs typeface="Times New Roman" panose="02020603050405020304" pitchFamily="18" charset="0"/>
              </a:rPr>
              <a:t> </a:t>
            </a:r>
            <a:r>
              <a:rPr lang="en-GB" altLang="en-US" sz="3200" u="sng" dirty="0">
                <a:cs typeface="Times New Roman" panose="02020603050405020304" pitchFamily="18" charset="0"/>
              </a:rPr>
              <a:t>(AND)</a:t>
            </a:r>
            <a:endParaRPr lang="en-GB" altLang="en-US" sz="3200" u="sng" dirty="0"/>
          </a:p>
          <a:p>
            <a:pPr marL="457200" lvl="1" indent="0">
              <a:buNone/>
            </a:pPr>
            <a:endParaRPr lang="en-GB" sz="3200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06852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163513" y="130175"/>
            <a:ext cx="9064708" cy="522288"/>
          </a:xfrm>
        </p:spPr>
        <p:txBody>
          <a:bodyPr/>
          <a:lstStyle/>
          <a:p>
            <a:r>
              <a:rPr lang="en-AU" altLang="en-US" sz="3200" dirty="0">
                <a:cs typeface="Times New Roman" panose="02020603050405020304" pitchFamily="18" charset="0"/>
              </a:rPr>
              <a:t>Specialisation/Generalisation</a:t>
            </a:r>
            <a:r>
              <a:rPr lang="en-US" altLang="en-US" sz="3200" dirty="0"/>
              <a:t> - </a:t>
            </a:r>
            <a:r>
              <a:rPr lang="en-US" altLang="en-US" sz="3200" dirty="0" smtClean="0"/>
              <a:t>constraints</a:t>
            </a:r>
            <a:endParaRPr lang="en-AU" altLang="en-US" sz="3200" dirty="0">
              <a:cs typeface="Times New Roman" panose="02020603050405020304" pitchFamily="18" charset="0"/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547" y="1143000"/>
            <a:ext cx="8156388" cy="5437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84002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EER - Aggregation</a:t>
            </a:r>
            <a:endParaRPr lang="ru-RU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1"/>
          </p:nvPr>
        </p:nvSpPr>
        <p:spPr>
          <a:xfrm>
            <a:off x="538164" y="1143000"/>
            <a:ext cx="4876048" cy="5005388"/>
          </a:xfrm>
        </p:spPr>
        <p:txBody>
          <a:bodyPr/>
          <a:lstStyle/>
          <a:p>
            <a:r>
              <a:rPr lang="en-GB" sz="3600" dirty="0">
                <a:latin typeface="+mj-lt"/>
              </a:rPr>
              <a:t>Represents a ‘</a:t>
            </a:r>
            <a:r>
              <a:rPr lang="en-GB" sz="3600" b="1" dirty="0">
                <a:latin typeface="+mj-lt"/>
              </a:rPr>
              <a:t>has-a</a:t>
            </a:r>
            <a:r>
              <a:rPr lang="en-GB" sz="3600" dirty="0">
                <a:latin typeface="+mj-lt"/>
              </a:rPr>
              <a:t>’ or ‘</a:t>
            </a:r>
            <a:r>
              <a:rPr lang="en-GB" sz="3600" b="1" dirty="0">
                <a:latin typeface="+mj-lt"/>
              </a:rPr>
              <a:t>is-part-of</a:t>
            </a:r>
            <a:r>
              <a:rPr lang="en-GB" sz="3600" dirty="0">
                <a:latin typeface="+mj-lt"/>
              </a:rPr>
              <a:t>’ relationship between entity types, where one represents the ‘whole’ and the other ‘the part’. </a:t>
            </a:r>
            <a:endParaRPr lang="en-GB" sz="3600" dirty="0" smtClean="0">
              <a:latin typeface="+mj-lt"/>
            </a:endParaRPr>
          </a:p>
          <a:p>
            <a:endParaRPr lang="en-GB" sz="3600" dirty="0">
              <a:latin typeface="+mj-lt"/>
            </a:endParaRPr>
          </a:p>
          <a:p>
            <a:endParaRPr lang="en-GB" sz="3600" dirty="0">
              <a:latin typeface="+mj-lt"/>
            </a:endParaRPr>
          </a:p>
        </p:txBody>
      </p:sp>
      <p:pic>
        <p:nvPicPr>
          <p:cNvPr id="5" name="Picture 3" descr="DS3-Figure 12-0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3152" y="782053"/>
            <a:ext cx="5798474" cy="5775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62827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EER - Composition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1"/>
          </p:nvPr>
        </p:nvSpPr>
        <p:spPr>
          <a:xfrm>
            <a:off x="538163" y="902366"/>
            <a:ext cx="11240753" cy="1335505"/>
          </a:xfrm>
        </p:spPr>
        <p:txBody>
          <a:bodyPr/>
          <a:lstStyle/>
          <a:p>
            <a:pPr marL="0" indent="0">
              <a:buNone/>
            </a:pPr>
            <a:r>
              <a:rPr lang="en-GB" sz="2800" b="1" dirty="0"/>
              <a:t>Specific form of aggregation </a:t>
            </a:r>
            <a:r>
              <a:rPr lang="en-GB" sz="2800" dirty="0"/>
              <a:t>that represents an association between entities, where there is a </a:t>
            </a:r>
            <a:r>
              <a:rPr lang="en-GB" sz="2800" b="1" dirty="0"/>
              <a:t>strong ownership </a:t>
            </a:r>
            <a:r>
              <a:rPr lang="en-GB" sz="2800" dirty="0"/>
              <a:t>and </a:t>
            </a:r>
            <a:r>
              <a:rPr lang="en-GB" sz="2800" b="1" dirty="0"/>
              <a:t>coincidental lifetime </a:t>
            </a:r>
            <a:r>
              <a:rPr lang="en-GB" sz="2800" dirty="0"/>
              <a:t>between the ‘whole’ and the ‘part’.</a:t>
            </a:r>
          </a:p>
          <a:p>
            <a:pPr marL="0" indent="0">
              <a:buNone/>
            </a:pPr>
            <a:endParaRPr lang="ru-RU" sz="2800" dirty="0"/>
          </a:p>
        </p:txBody>
      </p:sp>
      <p:pic>
        <p:nvPicPr>
          <p:cNvPr id="4" name="Picture 4" descr="DS3-Figure 12-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021" y="2129590"/>
            <a:ext cx="9143373" cy="4447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48273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EER – diagram example</a:t>
            </a:r>
            <a:endParaRPr lang="ru-RU" dirty="0"/>
          </a:p>
        </p:txBody>
      </p:sp>
      <p:pic>
        <p:nvPicPr>
          <p:cNvPr id="4" name="Content Placeholder 3" descr="DS3-Figure 12-08"/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7852" y="793579"/>
            <a:ext cx="8771021" cy="6064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4717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Прямоугольник 59"/>
          <p:cNvSpPr/>
          <p:nvPr/>
        </p:nvSpPr>
        <p:spPr>
          <a:xfrm>
            <a:off x="2249905" y="818147"/>
            <a:ext cx="8698832" cy="56909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163513" y="130175"/>
            <a:ext cx="9016582" cy="522288"/>
          </a:xfrm>
        </p:spPr>
        <p:txBody>
          <a:bodyPr/>
          <a:lstStyle/>
          <a:p>
            <a:r>
              <a:rPr lang="en-US" sz="3600" dirty="0" smtClean="0"/>
              <a:t>Alternative notations: Chen’s notation</a:t>
            </a:r>
            <a:endParaRPr lang="ru-RU" sz="3600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080591" y="1015835"/>
            <a:ext cx="3771893" cy="529991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60000"/>
              </a:spcBef>
              <a:spcAft>
                <a:spcPct val="70000"/>
              </a:spcAft>
              <a:buFont typeface="Monotype Sorts" pitchFamily="2" charset="2"/>
              <a:buNone/>
            </a:pPr>
            <a:r>
              <a:rPr lang="en-US" altLang="en-US" sz="1200" u="sng" dirty="0" smtClean="0">
                <a:solidFill>
                  <a:schemeClr val="bg1"/>
                </a:solidFill>
                <a:latin typeface="+mj-lt"/>
              </a:rPr>
              <a:t>Meaning</a:t>
            </a:r>
          </a:p>
          <a:p>
            <a:pPr marL="0" indent="0">
              <a:spcBef>
                <a:spcPct val="60000"/>
              </a:spcBef>
              <a:spcAft>
                <a:spcPct val="70000"/>
              </a:spcAft>
              <a:buFont typeface="Monotype Sorts" pitchFamily="2" charset="2"/>
              <a:buNone/>
            </a:pPr>
            <a:r>
              <a:rPr lang="en-US" altLang="en-US" sz="1200" dirty="0" smtClean="0">
                <a:solidFill>
                  <a:schemeClr val="bg1"/>
                </a:solidFill>
                <a:latin typeface="+mj-lt"/>
              </a:rPr>
              <a:t>ENTITY TYPE</a:t>
            </a:r>
          </a:p>
          <a:p>
            <a:pPr marL="0" indent="0">
              <a:spcBef>
                <a:spcPct val="60000"/>
              </a:spcBef>
              <a:spcAft>
                <a:spcPct val="70000"/>
              </a:spcAft>
              <a:buFont typeface="Monotype Sorts" pitchFamily="2" charset="2"/>
              <a:buNone/>
            </a:pPr>
            <a:r>
              <a:rPr lang="en-US" altLang="en-US" sz="1200" dirty="0" smtClean="0">
                <a:solidFill>
                  <a:schemeClr val="bg1"/>
                </a:solidFill>
                <a:latin typeface="+mj-lt"/>
              </a:rPr>
              <a:t>WEAK ENTITY TYPE</a:t>
            </a:r>
          </a:p>
          <a:p>
            <a:pPr marL="0" indent="0">
              <a:spcBef>
                <a:spcPct val="60000"/>
              </a:spcBef>
              <a:spcAft>
                <a:spcPct val="70000"/>
              </a:spcAft>
              <a:buFont typeface="Monotype Sorts" pitchFamily="2" charset="2"/>
              <a:buNone/>
            </a:pPr>
            <a:r>
              <a:rPr lang="en-US" altLang="en-US" sz="1200" dirty="0" smtClean="0">
                <a:solidFill>
                  <a:schemeClr val="bg1"/>
                </a:solidFill>
                <a:latin typeface="+mj-lt"/>
              </a:rPr>
              <a:t>RELATIONSHIP TYPE</a:t>
            </a:r>
          </a:p>
          <a:p>
            <a:pPr marL="0" indent="0">
              <a:spcBef>
                <a:spcPct val="60000"/>
              </a:spcBef>
              <a:spcAft>
                <a:spcPct val="70000"/>
              </a:spcAft>
              <a:buFont typeface="Monotype Sorts" pitchFamily="2" charset="2"/>
              <a:buNone/>
            </a:pPr>
            <a:r>
              <a:rPr lang="en-US" altLang="en-US" sz="1200" dirty="0" smtClean="0">
                <a:solidFill>
                  <a:schemeClr val="bg1"/>
                </a:solidFill>
                <a:latin typeface="+mj-lt"/>
              </a:rPr>
              <a:t>IDENTIFYING RELATIONSHIP TYPE</a:t>
            </a:r>
          </a:p>
          <a:p>
            <a:pPr marL="0" indent="0">
              <a:spcBef>
                <a:spcPct val="60000"/>
              </a:spcBef>
              <a:spcAft>
                <a:spcPct val="70000"/>
              </a:spcAft>
              <a:buFont typeface="Monotype Sorts" pitchFamily="2" charset="2"/>
              <a:buNone/>
            </a:pPr>
            <a:r>
              <a:rPr lang="en-US" altLang="en-US" sz="1200" dirty="0" smtClean="0">
                <a:solidFill>
                  <a:schemeClr val="bg1"/>
                </a:solidFill>
                <a:latin typeface="+mj-lt"/>
              </a:rPr>
              <a:t>ATTRIBUTE</a:t>
            </a:r>
          </a:p>
          <a:p>
            <a:pPr marL="0" indent="0">
              <a:spcBef>
                <a:spcPct val="60000"/>
              </a:spcBef>
              <a:spcAft>
                <a:spcPct val="70000"/>
              </a:spcAft>
              <a:buFont typeface="Monotype Sorts" pitchFamily="2" charset="2"/>
              <a:buNone/>
            </a:pPr>
            <a:r>
              <a:rPr lang="en-US" altLang="en-US" sz="1200" dirty="0" smtClean="0">
                <a:solidFill>
                  <a:schemeClr val="bg1"/>
                </a:solidFill>
                <a:latin typeface="+mj-lt"/>
              </a:rPr>
              <a:t>KEY ATTRIBUTE</a:t>
            </a:r>
          </a:p>
          <a:p>
            <a:pPr marL="0" indent="0">
              <a:spcBef>
                <a:spcPct val="60000"/>
              </a:spcBef>
              <a:spcAft>
                <a:spcPct val="70000"/>
              </a:spcAft>
              <a:buFont typeface="Monotype Sorts" pitchFamily="2" charset="2"/>
              <a:buNone/>
            </a:pPr>
            <a:r>
              <a:rPr lang="en-US" altLang="en-US" sz="1200" dirty="0" smtClean="0">
                <a:solidFill>
                  <a:schemeClr val="bg1"/>
                </a:solidFill>
                <a:latin typeface="+mj-lt"/>
              </a:rPr>
              <a:t>MULTIVALUED ATTRIBUTE</a:t>
            </a:r>
          </a:p>
          <a:p>
            <a:pPr marL="0" indent="0">
              <a:spcBef>
                <a:spcPct val="60000"/>
              </a:spcBef>
              <a:spcAft>
                <a:spcPct val="70000"/>
              </a:spcAft>
              <a:buFont typeface="Monotype Sorts" pitchFamily="2" charset="2"/>
              <a:buNone/>
            </a:pPr>
            <a:r>
              <a:rPr lang="en-US" altLang="en-US" sz="1200" dirty="0" smtClean="0">
                <a:solidFill>
                  <a:schemeClr val="bg1"/>
                </a:solidFill>
                <a:latin typeface="+mj-lt"/>
              </a:rPr>
              <a:t>COMPOSITE ATTRIBUTE</a:t>
            </a:r>
          </a:p>
          <a:p>
            <a:pPr marL="0" indent="0">
              <a:spcBef>
                <a:spcPct val="60000"/>
              </a:spcBef>
              <a:spcAft>
                <a:spcPct val="70000"/>
              </a:spcAft>
              <a:buFont typeface="Monotype Sorts" pitchFamily="2" charset="2"/>
              <a:buNone/>
            </a:pPr>
            <a:r>
              <a:rPr lang="en-US" altLang="en-US" sz="1200" dirty="0" smtClean="0">
                <a:solidFill>
                  <a:schemeClr val="bg1"/>
                </a:solidFill>
                <a:latin typeface="+mj-lt"/>
              </a:rPr>
              <a:t>DERIVED ATTRIBUTE</a:t>
            </a:r>
          </a:p>
          <a:p>
            <a:pPr marL="0" indent="0">
              <a:spcBef>
                <a:spcPct val="60000"/>
              </a:spcBef>
              <a:spcAft>
                <a:spcPct val="70000"/>
              </a:spcAft>
              <a:buFont typeface="Monotype Sorts" pitchFamily="2" charset="2"/>
              <a:buNone/>
            </a:pPr>
            <a:r>
              <a:rPr lang="en-US" altLang="en-US" sz="1200" dirty="0" smtClean="0">
                <a:solidFill>
                  <a:schemeClr val="bg1"/>
                </a:solidFill>
                <a:latin typeface="+mj-lt"/>
              </a:rPr>
              <a:t>TOTAL PARTICIPATION OF E</a:t>
            </a:r>
            <a:r>
              <a:rPr lang="en-US" altLang="en-US" sz="1200" baseline="-25000" dirty="0" smtClean="0">
                <a:solidFill>
                  <a:schemeClr val="bg1"/>
                </a:solidFill>
                <a:latin typeface="+mj-lt"/>
              </a:rPr>
              <a:t>2</a:t>
            </a:r>
            <a:r>
              <a:rPr lang="en-US" altLang="en-US" sz="1200" dirty="0" smtClean="0">
                <a:solidFill>
                  <a:schemeClr val="bg1"/>
                </a:solidFill>
                <a:latin typeface="+mj-lt"/>
              </a:rPr>
              <a:t> IN R</a:t>
            </a:r>
          </a:p>
          <a:p>
            <a:pPr marL="0" indent="0">
              <a:spcBef>
                <a:spcPct val="60000"/>
              </a:spcBef>
              <a:spcAft>
                <a:spcPct val="70000"/>
              </a:spcAft>
              <a:buFont typeface="Monotype Sorts" pitchFamily="2" charset="2"/>
              <a:buNone/>
            </a:pPr>
            <a:r>
              <a:rPr lang="en-US" altLang="en-US" sz="1200" dirty="0" smtClean="0">
                <a:solidFill>
                  <a:schemeClr val="bg1"/>
                </a:solidFill>
                <a:latin typeface="+mj-lt"/>
              </a:rPr>
              <a:t>CARDINALITY RATIO 1:N FOR E</a:t>
            </a:r>
            <a:r>
              <a:rPr lang="en-US" altLang="en-US" sz="1200" baseline="-25000" dirty="0" smtClean="0">
                <a:solidFill>
                  <a:schemeClr val="bg1"/>
                </a:solidFill>
                <a:latin typeface="+mj-lt"/>
              </a:rPr>
              <a:t>1</a:t>
            </a:r>
            <a:r>
              <a:rPr lang="en-US" altLang="en-US" sz="1200" dirty="0" smtClean="0">
                <a:solidFill>
                  <a:schemeClr val="bg1"/>
                </a:solidFill>
                <a:latin typeface="+mj-lt"/>
              </a:rPr>
              <a:t>:E</a:t>
            </a:r>
            <a:r>
              <a:rPr lang="en-US" altLang="en-US" sz="1200" baseline="-25000" dirty="0" smtClean="0">
                <a:solidFill>
                  <a:schemeClr val="bg1"/>
                </a:solidFill>
                <a:latin typeface="+mj-lt"/>
              </a:rPr>
              <a:t>2 </a:t>
            </a:r>
            <a:r>
              <a:rPr lang="en-US" altLang="en-US" sz="1200" dirty="0" smtClean="0">
                <a:solidFill>
                  <a:schemeClr val="bg1"/>
                </a:solidFill>
                <a:latin typeface="+mj-lt"/>
              </a:rPr>
              <a:t>IN R</a:t>
            </a:r>
          </a:p>
          <a:p>
            <a:pPr marL="0" indent="0">
              <a:spcBef>
                <a:spcPct val="60000"/>
              </a:spcBef>
              <a:spcAft>
                <a:spcPct val="70000"/>
              </a:spcAft>
              <a:buFont typeface="Monotype Sorts" pitchFamily="2" charset="2"/>
              <a:buNone/>
            </a:pPr>
            <a:r>
              <a:rPr lang="en-US" altLang="en-US" sz="1200" dirty="0" smtClean="0">
                <a:solidFill>
                  <a:schemeClr val="bg1"/>
                </a:solidFill>
                <a:latin typeface="+mj-lt"/>
              </a:rPr>
              <a:t>STRUCTURAL CONSTRAINT (min, max) ON PARTICIPATION OF E IN R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123204" y="955675"/>
            <a:ext cx="78258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u="sng">
                <a:solidFill>
                  <a:schemeClr val="bg2"/>
                </a:solidFill>
                <a:latin typeface="+mj-lt"/>
              </a:rPr>
              <a:t>Symbol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015254" y="1293813"/>
            <a:ext cx="901700" cy="31432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u-RU" altLang="en-US" sz="2800">
              <a:latin typeface="+mj-lt"/>
            </a:endParaRPr>
          </a:p>
        </p:txBody>
      </p: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4970804" y="1725613"/>
            <a:ext cx="990600" cy="400050"/>
            <a:chOff x="1085" y="1108"/>
            <a:chExt cx="624" cy="252"/>
          </a:xfrm>
        </p:grpSpPr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1109" y="1130"/>
              <a:ext cx="576" cy="202"/>
            </a:xfrm>
            <a:prstGeom prst="rect">
              <a:avLst/>
            </a:prstGeom>
            <a:noFill/>
            <a:ln w="9525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u-RU" altLang="en-US" sz="2800">
                <a:latin typeface="+mj-lt"/>
              </a:endParaRP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1085" y="1108"/>
              <a:ext cx="624" cy="252"/>
            </a:xfrm>
            <a:prstGeom prst="rect">
              <a:avLst/>
            </a:prstGeom>
            <a:noFill/>
            <a:ln w="9525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u-RU" altLang="en-US" sz="2800">
                <a:latin typeface="+mj-lt"/>
              </a:endParaRPr>
            </a:p>
          </p:txBody>
        </p:sp>
      </p:grpSp>
      <p:sp>
        <p:nvSpPr>
          <p:cNvPr id="10" name="Rectangle 9"/>
          <p:cNvSpPr>
            <a:spLocks noChangeArrowheads="1"/>
          </p:cNvSpPr>
          <p:nvPr/>
        </p:nvSpPr>
        <p:spPr bwMode="auto">
          <a:xfrm rot="2723072">
            <a:off x="5286716" y="2246313"/>
            <a:ext cx="254000" cy="2540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u-RU" altLang="en-US" sz="2800">
              <a:latin typeface="+mj-lt"/>
            </a:endParaRPr>
          </a:p>
        </p:txBody>
      </p:sp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5253379" y="2651125"/>
            <a:ext cx="320675" cy="320675"/>
            <a:chOff x="1263" y="1691"/>
            <a:chExt cx="202" cy="202"/>
          </a:xfrm>
        </p:grpSpPr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 rot="2723072">
              <a:off x="1284" y="1717"/>
              <a:ext cx="160" cy="160"/>
            </a:xfrm>
            <a:prstGeom prst="rect">
              <a:avLst/>
            </a:prstGeom>
            <a:noFill/>
            <a:ln w="9525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u-RU" altLang="en-US" sz="2800">
                <a:latin typeface="+mj-lt"/>
              </a:endParaRPr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 rot="2723072">
              <a:off x="1263" y="1691"/>
              <a:ext cx="202" cy="202"/>
            </a:xfrm>
            <a:prstGeom prst="rect">
              <a:avLst/>
            </a:prstGeom>
            <a:noFill/>
            <a:ln w="9525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u-RU" altLang="en-US" sz="2800">
                <a:latin typeface="+mj-lt"/>
              </a:endParaRPr>
            </a:p>
          </p:txBody>
        </p:sp>
      </p:grpSp>
      <p:grpSp>
        <p:nvGrpSpPr>
          <p:cNvPr id="14" name="Group 13"/>
          <p:cNvGrpSpPr>
            <a:grpSpLocks/>
          </p:cNvGrpSpPr>
          <p:nvPr/>
        </p:nvGrpSpPr>
        <p:grpSpPr bwMode="auto">
          <a:xfrm>
            <a:off x="4726329" y="3135313"/>
            <a:ext cx="1143000" cy="211137"/>
            <a:chOff x="931" y="2046"/>
            <a:chExt cx="720" cy="133"/>
          </a:xfrm>
        </p:grpSpPr>
        <p:sp>
          <p:nvSpPr>
            <p:cNvPr id="15" name="Oval 14"/>
            <p:cNvSpPr>
              <a:spLocks noChangeArrowheads="1"/>
            </p:cNvSpPr>
            <p:nvPr/>
          </p:nvSpPr>
          <p:spPr bwMode="auto">
            <a:xfrm>
              <a:off x="1181" y="2046"/>
              <a:ext cx="470" cy="133"/>
            </a:xfrm>
            <a:prstGeom prst="ellips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u-RU" altLang="en-US" sz="2800">
                <a:latin typeface="+mj-lt"/>
              </a:endParaRPr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 flipH="1">
              <a:off x="931" y="2113"/>
              <a:ext cx="25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>
                <a:latin typeface="+mj-lt"/>
              </a:endParaRPr>
            </a:p>
          </p:txBody>
        </p:sp>
      </p:grpSp>
      <p:grpSp>
        <p:nvGrpSpPr>
          <p:cNvPr id="17" name="Group 16"/>
          <p:cNvGrpSpPr>
            <a:grpSpLocks/>
          </p:cNvGrpSpPr>
          <p:nvPr/>
        </p:nvGrpSpPr>
        <p:grpSpPr bwMode="auto">
          <a:xfrm>
            <a:off x="4726329" y="3511550"/>
            <a:ext cx="1143000" cy="211138"/>
            <a:chOff x="931" y="2213"/>
            <a:chExt cx="720" cy="133"/>
          </a:xfrm>
        </p:grpSpPr>
        <p:grpSp>
          <p:nvGrpSpPr>
            <p:cNvPr id="18" name="Group 17"/>
            <p:cNvGrpSpPr>
              <a:grpSpLocks/>
            </p:cNvGrpSpPr>
            <p:nvPr/>
          </p:nvGrpSpPr>
          <p:grpSpPr bwMode="auto">
            <a:xfrm>
              <a:off x="931" y="2213"/>
              <a:ext cx="720" cy="133"/>
              <a:chOff x="931" y="2046"/>
              <a:chExt cx="720" cy="133"/>
            </a:xfrm>
          </p:grpSpPr>
          <p:sp>
            <p:nvSpPr>
              <p:cNvPr id="20" name="Oval 18"/>
              <p:cNvSpPr>
                <a:spLocks noChangeArrowheads="1"/>
              </p:cNvSpPr>
              <p:nvPr/>
            </p:nvSpPr>
            <p:spPr bwMode="auto">
              <a:xfrm>
                <a:off x="1181" y="2046"/>
                <a:ext cx="470" cy="133"/>
              </a:xfrm>
              <a:prstGeom prst="ellips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ru-RU" altLang="en-US" sz="2800">
                  <a:latin typeface="+mj-lt"/>
                </a:endParaRPr>
              </a:p>
            </p:txBody>
          </p:sp>
          <p:sp>
            <p:nvSpPr>
              <p:cNvPr id="21" name="Line 19"/>
              <p:cNvSpPr>
                <a:spLocks noChangeShapeType="1"/>
              </p:cNvSpPr>
              <p:nvPr/>
            </p:nvSpPr>
            <p:spPr bwMode="auto">
              <a:xfrm flipH="1">
                <a:off x="931" y="2113"/>
                <a:ext cx="25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>
                  <a:latin typeface="+mj-lt"/>
                </a:endParaRPr>
              </a:p>
            </p:txBody>
          </p:sp>
        </p:grpSp>
        <p:sp>
          <p:nvSpPr>
            <p:cNvPr id="19" name="Line 20"/>
            <p:cNvSpPr>
              <a:spLocks noChangeShapeType="1"/>
            </p:cNvSpPr>
            <p:nvPr/>
          </p:nvSpPr>
          <p:spPr bwMode="auto">
            <a:xfrm>
              <a:off x="1277" y="2306"/>
              <a:ext cx="269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>
                <a:latin typeface="+mj-lt"/>
              </a:endParaRPr>
            </a:p>
          </p:txBody>
        </p:sp>
      </p:grpSp>
      <p:grpSp>
        <p:nvGrpSpPr>
          <p:cNvPr id="22" name="Group 21"/>
          <p:cNvGrpSpPr>
            <a:grpSpLocks/>
          </p:cNvGrpSpPr>
          <p:nvPr/>
        </p:nvGrpSpPr>
        <p:grpSpPr bwMode="auto">
          <a:xfrm>
            <a:off x="4726329" y="3895725"/>
            <a:ext cx="1249362" cy="273050"/>
            <a:chOff x="931" y="2475"/>
            <a:chExt cx="787" cy="172"/>
          </a:xfrm>
        </p:grpSpPr>
        <p:sp>
          <p:nvSpPr>
            <p:cNvPr id="23" name="Oval 22"/>
            <p:cNvSpPr>
              <a:spLocks noChangeArrowheads="1"/>
            </p:cNvSpPr>
            <p:nvPr/>
          </p:nvSpPr>
          <p:spPr bwMode="auto">
            <a:xfrm>
              <a:off x="1181" y="2492"/>
              <a:ext cx="470" cy="133"/>
            </a:xfrm>
            <a:prstGeom prst="ellips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u-RU" altLang="en-US" sz="2800">
                <a:latin typeface="+mj-lt"/>
              </a:endParaRPr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 flipH="1">
              <a:off x="931" y="2559"/>
              <a:ext cx="25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>
                <a:latin typeface="+mj-lt"/>
              </a:endParaRPr>
            </a:p>
          </p:txBody>
        </p:sp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1114" y="2475"/>
              <a:ext cx="604" cy="172"/>
            </a:xfrm>
            <a:prstGeom prst="ellips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u-RU" altLang="en-US" sz="2800">
                <a:latin typeface="+mj-lt"/>
              </a:endParaRPr>
            </a:p>
          </p:txBody>
        </p:sp>
      </p:grpSp>
      <p:grpSp>
        <p:nvGrpSpPr>
          <p:cNvPr id="26" name="Group 25"/>
          <p:cNvGrpSpPr>
            <a:grpSpLocks/>
          </p:cNvGrpSpPr>
          <p:nvPr/>
        </p:nvGrpSpPr>
        <p:grpSpPr bwMode="auto">
          <a:xfrm>
            <a:off x="4726329" y="4765675"/>
            <a:ext cx="1143000" cy="211138"/>
            <a:chOff x="931" y="2046"/>
            <a:chExt cx="720" cy="133"/>
          </a:xfrm>
        </p:grpSpPr>
        <p:sp>
          <p:nvSpPr>
            <p:cNvPr id="27" name="Oval 26"/>
            <p:cNvSpPr>
              <a:spLocks noChangeArrowheads="1"/>
            </p:cNvSpPr>
            <p:nvPr/>
          </p:nvSpPr>
          <p:spPr bwMode="auto">
            <a:xfrm>
              <a:off x="1181" y="2046"/>
              <a:ext cx="470" cy="133"/>
            </a:xfrm>
            <a:prstGeom prst="ellipse">
              <a:avLst/>
            </a:prstGeom>
            <a:noFill/>
            <a:ln w="9525" cap="rnd">
              <a:solidFill>
                <a:schemeClr val="bg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u-RU" altLang="en-US" sz="2800">
                <a:latin typeface="+mj-lt"/>
              </a:endParaRPr>
            </a:p>
          </p:txBody>
        </p: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 flipH="1">
              <a:off x="931" y="2113"/>
              <a:ext cx="250" cy="0"/>
            </a:xfrm>
            <a:prstGeom prst="line">
              <a:avLst/>
            </a:prstGeom>
            <a:noFill/>
            <a:ln w="9525" cap="rnd">
              <a:solidFill>
                <a:schemeClr val="bg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>
                <a:latin typeface="+mj-lt"/>
              </a:endParaRPr>
            </a:p>
          </p:txBody>
        </p:sp>
      </p:grpSp>
      <p:grpSp>
        <p:nvGrpSpPr>
          <p:cNvPr id="29" name="Group 28"/>
          <p:cNvGrpSpPr>
            <a:grpSpLocks/>
          </p:cNvGrpSpPr>
          <p:nvPr/>
        </p:nvGrpSpPr>
        <p:grpSpPr bwMode="auto">
          <a:xfrm>
            <a:off x="3232491" y="5191125"/>
            <a:ext cx="1143000" cy="241300"/>
            <a:chOff x="528" y="3291"/>
            <a:chExt cx="720" cy="152"/>
          </a:xfrm>
        </p:grpSpPr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528" y="3291"/>
              <a:ext cx="403" cy="152"/>
            </a:xfrm>
            <a:prstGeom prst="rect">
              <a:avLst/>
            </a:prstGeom>
            <a:noFill/>
            <a:ln w="9525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600">
                  <a:solidFill>
                    <a:schemeClr val="bg2"/>
                  </a:solidFill>
                  <a:latin typeface="+mj-lt"/>
                </a:rPr>
                <a:t>E</a:t>
              </a:r>
              <a:r>
                <a:rPr lang="en-US" altLang="en-US" sz="1600" baseline="-25000">
                  <a:solidFill>
                    <a:schemeClr val="bg2"/>
                  </a:solidFill>
                  <a:latin typeface="+mj-lt"/>
                </a:rPr>
                <a:t>1</a:t>
              </a:r>
              <a:endParaRPr lang="en-US" altLang="en-US" sz="1600">
                <a:solidFill>
                  <a:schemeClr val="bg2"/>
                </a:solidFill>
                <a:latin typeface="+mj-lt"/>
              </a:endParaRPr>
            </a:p>
          </p:txBody>
        </p:sp>
        <p:sp>
          <p:nvSpPr>
            <p:cNvPr id="31" name="Line 30"/>
            <p:cNvSpPr>
              <a:spLocks noChangeShapeType="1"/>
            </p:cNvSpPr>
            <p:nvPr/>
          </p:nvSpPr>
          <p:spPr bwMode="auto">
            <a:xfrm>
              <a:off x="941" y="3371"/>
              <a:ext cx="307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>
                <a:latin typeface="+mj-lt"/>
              </a:endParaRPr>
            </a:p>
          </p:txBody>
        </p:sp>
      </p:grpSp>
      <p:sp>
        <p:nvSpPr>
          <p:cNvPr id="32" name="Text Box 31"/>
          <p:cNvSpPr txBox="1">
            <a:spLocks noChangeArrowheads="1"/>
          </p:cNvSpPr>
          <p:nvPr/>
        </p:nvSpPr>
        <p:spPr bwMode="auto">
          <a:xfrm>
            <a:off x="4337206" y="5184775"/>
            <a:ext cx="31451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400">
                <a:solidFill>
                  <a:schemeClr val="bg2"/>
                </a:solidFill>
                <a:latin typeface="+mj-lt"/>
              </a:rPr>
              <a:t>R</a:t>
            </a:r>
          </a:p>
        </p:txBody>
      </p:sp>
      <p:sp>
        <p:nvSpPr>
          <p:cNvPr id="33" name="Line 32"/>
          <p:cNvSpPr>
            <a:spLocks noChangeShapeType="1"/>
          </p:cNvSpPr>
          <p:nvPr/>
        </p:nvSpPr>
        <p:spPr bwMode="auto">
          <a:xfrm>
            <a:off x="4646954" y="5284788"/>
            <a:ext cx="1176337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>
              <a:latin typeface="+mj-lt"/>
            </a:endParaRPr>
          </a:p>
        </p:txBody>
      </p:sp>
      <p:sp>
        <p:nvSpPr>
          <p:cNvPr id="34" name="Line 33"/>
          <p:cNvSpPr>
            <a:spLocks noChangeShapeType="1"/>
          </p:cNvSpPr>
          <p:nvPr/>
        </p:nvSpPr>
        <p:spPr bwMode="auto">
          <a:xfrm>
            <a:off x="4686641" y="5330825"/>
            <a:ext cx="11366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>
              <a:latin typeface="+mj-lt"/>
            </a:endParaRPr>
          </a:p>
        </p:txBody>
      </p: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5823291" y="5191125"/>
            <a:ext cx="639763" cy="2413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600">
                <a:solidFill>
                  <a:schemeClr val="bg2"/>
                </a:solidFill>
                <a:latin typeface="+mj-lt"/>
              </a:rPr>
              <a:t>E</a:t>
            </a:r>
            <a:r>
              <a:rPr lang="en-US" altLang="en-US" sz="1600" baseline="-25000">
                <a:solidFill>
                  <a:schemeClr val="bg2"/>
                </a:solidFill>
                <a:latin typeface="+mj-lt"/>
              </a:rPr>
              <a:t>2</a:t>
            </a:r>
            <a:endParaRPr lang="en-US" altLang="en-US" sz="16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3232491" y="5616575"/>
            <a:ext cx="639763" cy="2413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600">
                <a:solidFill>
                  <a:schemeClr val="bg2"/>
                </a:solidFill>
                <a:latin typeface="+mj-lt"/>
              </a:rPr>
              <a:t>E</a:t>
            </a:r>
            <a:r>
              <a:rPr lang="en-US" altLang="en-US" sz="1600" baseline="-25000">
                <a:solidFill>
                  <a:schemeClr val="bg2"/>
                </a:solidFill>
                <a:latin typeface="+mj-lt"/>
              </a:rPr>
              <a:t>1</a:t>
            </a:r>
            <a:endParaRPr lang="en-US" altLang="en-US" sz="16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7" name="Line 36"/>
          <p:cNvSpPr>
            <a:spLocks noChangeShapeType="1"/>
          </p:cNvSpPr>
          <p:nvPr/>
        </p:nvSpPr>
        <p:spPr bwMode="auto">
          <a:xfrm>
            <a:off x="3888129" y="5743575"/>
            <a:ext cx="487362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>
              <a:latin typeface="+mj-lt"/>
            </a:endParaRPr>
          </a:p>
        </p:txBody>
      </p:sp>
      <p:sp>
        <p:nvSpPr>
          <p:cNvPr id="38" name="Rectangle 37"/>
          <p:cNvSpPr>
            <a:spLocks noChangeArrowheads="1"/>
          </p:cNvSpPr>
          <p:nvPr/>
        </p:nvSpPr>
        <p:spPr bwMode="auto">
          <a:xfrm rot="2723072">
            <a:off x="4432641" y="5614988"/>
            <a:ext cx="254000" cy="2540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u-RU" altLang="en-US" sz="16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9" name="Text Box 38"/>
          <p:cNvSpPr txBox="1">
            <a:spLocks noChangeArrowheads="1"/>
          </p:cNvSpPr>
          <p:nvPr/>
        </p:nvSpPr>
        <p:spPr bwMode="auto">
          <a:xfrm>
            <a:off x="4397531" y="5611813"/>
            <a:ext cx="31451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400">
                <a:solidFill>
                  <a:schemeClr val="bg2"/>
                </a:solidFill>
                <a:latin typeface="+mj-lt"/>
              </a:rPr>
              <a:t>R</a:t>
            </a:r>
          </a:p>
        </p:txBody>
      </p:sp>
      <p:sp>
        <p:nvSpPr>
          <p:cNvPr id="40" name="Line 39"/>
          <p:cNvSpPr>
            <a:spLocks noChangeShapeType="1"/>
          </p:cNvSpPr>
          <p:nvPr/>
        </p:nvSpPr>
        <p:spPr bwMode="auto">
          <a:xfrm>
            <a:off x="4751729" y="5746750"/>
            <a:ext cx="731837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>
              <a:latin typeface="+mj-lt"/>
            </a:endParaRPr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5540716" y="5643563"/>
            <a:ext cx="639763" cy="2413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600">
                <a:solidFill>
                  <a:schemeClr val="bg2"/>
                </a:solidFill>
                <a:latin typeface="+mj-lt"/>
              </a:rPr>
              <a:t>E</a:t>
            </a:r>
            <a:r>
              <a:rPr lang="en-US" altLang="en-US" sz="1600" baseline="-25000">
                <a:solidFill>
                  <a:schemeClr val="bg2"/>
                </a:solidFill>
                <a:latin typeface="+mj-lt"/>
              </a:rPr>
              <a:t>2</a:t>
            </a:r>
            <a:endParaRPr lang="en-US" altLang="en-US" sz="16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42" name="Line 41"/>
          <p:cNvSpPr>
            <a:spLocks noChangeShapeType="1"/>
          </p:cNvSpPr>
          <p:nvPr/>
        </p:nvSpPr>
        <p:spPr bwMode="auto">
          <a:xfrm>
            <a:off x="3888129" y="6219825"/>
            <a:ext cx="487362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>
              <a:latin typeface="+mj-lt"/>
            </a:endParaRPr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 rot="2723072">
            <a:off x="4432641" y="6091238"/>
            <a:ext cx="254000" cy="2540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u-RU" altLang="en-US" sz="16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44" name="Text Box 43"/>
          <p:cNvSpPr txBox="1">
            <a:spLocks noChangeArrowheads="1"/>
          </p:cNvSpPr>
          <p:nvPr/>
        </p:nvSpPr>
        <p:spPr bwMode="auto">
          <a:xfrm>
            <a:off x="4397531" y="6088063"/>
            <a:ext cx="31451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400">
                <a:solidFill>
                  <a:schemeClr val="bg2"/>
                </a:solidFill>
                <a:latin typeface="+mj-lt"/>
              </a:rPr>
              <a:t>R</a:t>
            </a:r>
          </a:p>
        </p:txBody>
      </p:sp>
      <p:sp>
        <p:nvSpPr>
          <p:cNvPr id="45" name="Line 44"/>
          <p:cNvSpPr>
            <a:spLocks noChangeShapeType="1"/>
          </p:cNvSpPr>
          <p:nvPr/>
        </p:nvSpPr>
        <p:spPr bwMode="auto">
          <a:xfrm flipV="1">
            <a:off x="4751729" y="6215063"/>
            <a:ext cx="857250" cy="7937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>
              <a:latin typeface="+mj-lt"/>
            </a:endParaRPr>
          </a:p>
        </p:txBody>
      </p:sp>
      <p:sp>
        <p:nvSpPr>
          <p:cNvPr id="46" name="Text Box 45"/>
          <p:cNvSpPr txBox="1">
            <a:spLocks noChangeArrowheads="1"/>
          </p:cNvSpPr>
          <p:nvPr/>
        </p:nvSpPr>
        <p:spPr bwMode="auto">
          <a:xfrm>
            <a:off x="4680291" y="5929313"/>
            <a:ext cx="97975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+mj-lt"/>
              </a:rPr>
              <a:t>(min,max)</a:t>
            </a:r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5612154" y="6103938"/>
            <a:ext cx="639762" cy="2413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600">
                <a:solidFill>
                  <a:schemeClr val="bg2"/>
                </a:solidFill>
                <a:latin typeface="+mj-lt"/>
              </a:rPr>
              <a:t>E</a:t>
            </a:r>
          </a:p>
        </p:txBody>
      </p:sp>
      <p:grpSp>
        <p:nvGrpSpPr>
          <p:cNvPr id="48" name="Group 47"/>
          <p:cNvGrpSpPr>
            <a:grpSpLocks/>
          </p:cNvGrpSpPr>
          <p:nvPr/>
        </p:nvGrpSpPr>
        <p:grpSpPr bwMode="auto">
          <a:xfrm>
            <a:off x="4946991" y="4279900"/>
            <a:ext cx="990600" cy="346075"/>
            <a:chOff x="0" y="1560"/>
            <a:chExt cx="1200" cy="420"/>
          </a:xfrm>
        </p:grpSpPr>
        <p:sp>
          <p:nvSpPr>
            <p:cNvPr id="49" name="Oval 48"/>
            <p:cNvSpPr>
              <a:spLocks noChangeArrowheads="1"/>
            </p:cNvSpPr>
            <p:nvPr/>
          </p:nvSpPr>
          <p:spPr bwMode="auto">
            <a:xfrm>
              <a:off x="0" y="1560"/>
              <a:ext cx="288" cy="168"/>
            </a:xfrm>
            <a:prstGeom prst="ellips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u-RU" altLang="en-US" sz="2800">
                <a:latin typeface="+mj-lt"/>
              </a:endParaRPr>
            </a:p>
          </p:txBody>
        </p:sp>
        <p:sp>
          <p:nvSpPr>
            <p:cNvPr id="50" name="Oval 49"/>
            <p:cNvSpPr>
              <a:spLocks noChangeArrowheads="1"/>
            </p:cNvSpPr>
            <p:nvPr/>
          </p:nvSpPr>
          <p:spPr bwMode="auto">
            <a:xfrm>
              <a:off x="396" y="1560"/>
              <a:ext cx="288" cy="168"/>
            </a:xfrm>
            <a:prstGeom prst="ellips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u-RU" altLang="en-US" sz="2800">
                <a:latin typeface="+mj-lt"/>
              </a:endParaRPr>
            </a:p>
          </p:txBody>
        </p:sp>
        <p:sp>
          <p:nvSpPr>
            <p:cNvPr id="51" name="Oval 50"/>
            <p:cNvSpPr>
              <a:spLocks noChangeArrowheads="1"/>
            </p:cNvSpPr>
            <p:nvPr/>
          </p:nvSpPr>
          <p:spPr bwMode="auto">
            <a:xfrm>
              <a:off x="912" y="1560"/>
              <a:ext cx="288" cy="168"/>
            </a:xfrm>
            <a:prstGeom prst="ellips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u-RU" altLang="en-US" sz="2800">
                <a:latin typeface="+mj-lt"/>
              </a:endParaRPr>
            </a:p>
          </p:txBody>
        </p:sp>
        <p:sp>
          <p:nvSpPr>
            <p:cNvPr id="52" name="Oval 51"/>
            <p:cNvSpPr>
              <a:spLocks noChangeArrowheads="1"/>
            </p:cNvSpPr>
            <p:nvPr/>
          </p:nvSpPr>
          <p:spPr bwMode="auto">
            <a:xfrm>
              <a:off x="516" y="1812"/>
              <a:ext cx="288" cy="168"/>
            </a:xfrm>
            <a:prstGeom prst="ellips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u-RU" altLang="en-US" sz="2800">
                <a:latin typeface="+mj-lt"/>
              </a:endParaRPr>
            </a:p>
          </p:txBody>
        </p:sp>
        <p:sp>
          <p:nvSpPr>
            <p:cNvPr id="53" name="Line 52"/>
            <p:cNvSpPr>
              <a:spLocks noChangeShapeType="1"/>
            </p:cNvSpPr>
            <p:nvPr/>
          </p:nvSpPr>
          <p:spPr bwMode="auto">
            <a:xfrm flipH="1">
              <a:off x="264" y="1896"/>
              <a:ext cx="26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>
                <a:latin typeface="+mj-lt"/>
              </a:endParaRPr>
            </a:p>
          </p:txBody>
        </p:sp>
        <p:sp>
          <p:nvSpPr>
            <p:cNvPr id="54" name="Line 53"/>
            <p:cNvSpPr>
              <a:spLocks noChangeShapeType="1"/>
            </p:cNvSpPr>
            <p:nvPr/>
          </p:nvSpPr>
          <p:spPr bwMode="auto">
            <a:xfrm>
              <a:off x="288" y="1668"/>
              <a:ext cx="264" cy="173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>
                <a:latin typeface="+mj-lt"/>
              </a:endParaRPr>
            </a:p>
          </p:txBody>
        </p:sp>
        <p:sp>
          <p:nvSpPr>
            <p:cNvPr id="55" name="Line 54"/>
            <p:cNvSpPr>
              <a:spLocks noChangeShapeType="1"/>
            </p:cNvSpPr>
            <p:nvPr/>
          </p:nvSpPr>
          <p:spPr bwMode="auto">
            <a:xfrm>
              <a:off x="528" y="1717"/>
              <a:ext cx="84" cy="10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>
                <a:latin typeface="+mj-lt"/>
              </a:endParaRPr>
            </a:p>
          </p:txBody>
        </p:sp>
        <p:sp>
          <p:nvSpPr>
            <p:cNvPr id="56" name="Line 55"/>
            <p:cNvSpPr>
              <a:spLocks noChangeShapeType="1"/>
            </p:cNvSpPr>
            <p:nvPr/>
          </p:nvSpPr>
          <p:spPr bwMode="auto">
            <a:xfrm flipV="1">
              <a:off x="792" y="1728"/>
              <a:ext cx="228" cy="13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>
                <a:latin typeface="+mj-lt"/>
              </a:endParaRPr>
            </a:p>
          </p:txBody>
        </p:sp>
        <p:sp>
          <p:nvSpPr>
            <p:cNvPr id="57" name="Line 56"/>
            <p:cNvSpPr>
              <a:spLocks noChangeShapeType="1"/>
            </p:cNvSpPr>
            <p:nvPr/>
          </p:nvSpPr>
          <p:spPr bwMode="auto">
            <a:xfrm>
              <a:off x="720" y="1644"/>
              <a:ext cx="180" cy="0"/>
            </a:xfrm>
            <a:prstGeom prst="line">
              <a:avLst/>
            </a:prstGeom>
            <a:noFill/>
            <a:ln w="9525" cap="rnd">
              <a:solidFill>
                <a:schemeClr val="bg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>
                <a:latin typeface="+mj-lt"/>
              </a:endParaRPr>
            </a:p>
          </p:txBody>
        </p:sp>
      </p:grpSp>
      <p:sp>
        <p:nvSpPr>
          <p:cNvPr id="58" name="Text Box 57"/>
          <p:cNvSpPr txBox="1">
            <a:spLocks noChangeArrowheads="1"/>
          </p:cNvSpPr>
          <p:nvPr/>
        </p:nvSpPr>
        <p:spPr bwMode="auto">
          <a:xfrm>
            <a:off x="4642191" y="5521325"/>
            <a:ext cx="3143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400">
                <a:solidFill>
                  <a:schemeClr val="bg2"/>
                </a:solidFill>
                <a:latin typeface="+mj-lt"/>
              </a:rPr>
              <a:t>N</a:t>
            </a:r>
          </a:p>
        </p:txBody>
      </p:sp>
      <p:sp>
        <p:nvSpPr>
          <p:cNvPr id="59" name="Rectangle 58"/>
          <p:cNvSpPr>
            <a:spLocks noChangeArrowheads="1"/>
          </p:cNvSpPr>
          <p:nvPr/>
        </p:nvSpPr>
        <p:spPr bwMode="auto">
          <a:xfrm rot="2723072">
            <a:off x="4392954" y="5189538"/>
            <a:ext cx="254000" cy="2540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u-RU" altLang="en-US" sz="160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333667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Chen’s </a:t>
            </a:r>
            <a:r>
              <a:rPr lang="en-US" dirty="0" smtClean="0"/>
              <a:t>notation - example</a:t>
            </a:r>
            <a:endParaRPr lang="ru-RU" dirty="0"/>
          </a:p>
        </p:txBody>
      </p:sp>
      <p:pic>
        <p:nvPicPr>
          <p:cNvPr id="4" name="Picture 2" descr="4-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70"/>
          <a:stretch/>
        </p:blipFill>
        <p:spPr bwMode="auto">
          <a:xfrm>
            <a:off x="2133599" y="709625"/>
            <a:ext cx="8005011" cy="6160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38027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Other notations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4000" dirty="0"/>
              <a:t>Crow's foot </a:t>
            </a:r>
            <a:r>
              <a:rPr lang="en-US" sz="4000" dirty="0" smtClean="0"/>
              <a:t>notation</a:t>
            </a:r>
            <a:r>
              <a:rPr lang="ru-RU" sz="4000" dirty="0" smtClean="0"/>
              <a:t> </a:t>
            </a:r>
            <a:r>
              <a:rPr lang="en-US" dirty="0">
                <a:hlinkClick r:id="rId2"/>
              </a:rPr>
              <a:t>http://www2.cs.uregina.ca/~</a:t>
            </a:r>
            <a:r>
              <a:rPr lang="en-US" dirty="0" smtClean="0">
                <a:hlinkClick r:id="rId2"/>
              </a:rPr>
              <a:t>bernatja/crowsfoot.html</a:t>
            </a:r>
            <a:r>
              <a:rPr lang="ru-RU" dirty="0" smtClean="0"/>
              <a:t> </a:t>
            </a:r>
            <a:endParaRPr lang="ru-RU" dirty="0" smtClean="0"/>
          </a:p>
          <a:p>
            <a:r>
              <a:rPr lang="en-US" sz="4000" dirty="0" smtClean="0"/>
              <a:t>Barker's notation</a:t>
            </a:r>
            <a:r>
              <a:rPr lang="ru-RU" sz="4000" dirty="0" smtClean="0"/>
              <a:t> </a:t>
            </a:r>
            <a:r>
              <a:rPr lang="en-US" sz="2800" dirty="0">
                <a:hlinkClick r:id="rId3"/>
              </a:rPr>
              <a:t>http://ece.uprm.edu/~</a:t>
            </a:r>
            <a:r>
              <a:rPr lang="en-US" sz="2800" dirty="0" smtClean="0">
                <a:hlinkClick r:id="rId3"/>
              </a:rPr>
              <a:t>icom5047/documents/barkers-erd-notation.pdf</a:t>
            </a:r>
            <a:r>
              <a:rPr lang="ru-RU" sz="2800" dirty="0" smtClean="0"/>
              <a:t> </a:t>
            </a:r>
            <a:endParaRPr lang="en-US" sz="4000" dirty="0"/>
          </a:p>
          <a:p>
            <a:r>
              <a:rPr lang="en-US" sz="4000" dirty="0" smtClean="0"/>
              <a:t>IDEF1X</a:t>
            </a:r>
            <a:r>
              <a:rPr lang="ru-RU" sz="4000" dirty="0" smtClean="0"/>
              <a:t> </a:t>
            </a:r>
            <a:r>
              <a:rPr lang="en-US" sz="2800" dirty="0">
                <a:hlinkClick r:id="rId4"/>
              </a:rPr>
              <a:t>https://</a:t>
            </a:r>
            <a:r>
              <a:rPr lang="en-US" sz="2800" dirty="0" smtClean="0">
                <a:hlinkClick r:id="rId4"/>
              </a:rPr>
              <a:t>ru.qwe.wiki/wiki/IDEF1X</a:t>
            </a:r>
            <a:r>
              <a:rPr lang="ru-RU" sz="2800" dirty="0" smtClean="0"/>
              <a:t>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1198106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Reading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sz="4800" dirty="0"/>
              <a:t>T. </a:t>
            </a:r>
            <a:r>
              <a:rPr lang="en-GB" sz="4800" dirty="0" err="1"/>
              <a:t>Connoly</a:t>
            </a:r>
            <a:r>
              <a:rPr lang="en-GB" sz="4800" dirty="0"/>
              <a:t> Chapter </a:t>
            </a:r>
            <a:r>
              <a:rPr lang="en-GB" sz="4800" dirty="0" smtClean="0"/>
              <a:t>13</a:t>
            </a:r>
            <a:endParaRPr lang="en-GB" sz="4800" dirty="0"/>
          </a:p>
          <a:p>
            <a:r>
              <a:rPr lang="en-US" sz="4800" dirty="0"/>
              <a:t>N. </a:t>
            </a:r>
            <a:r>
              <a:rPr lang="en-US" sz="4800" dirty="0" err="1"/>
              <a:t>Elmasri</a:t>
            </a:r>
            <a:r>
              <a:rPr lang="en-US" sz="4800" dirty="0"/>
              <a:t> Chapter </a:t>
            </a:r>
            <a:r>
              <a:rPr lang="en-US" sz="4800" dirty="0" smtClean="0"/>
              <a:t>5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442111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83FA4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BFE587DC-B932-4717-BE1E-84EBCCC004C1}" vid="{B0770EC1-ED8D-4515-A7AA-30E7856F12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Unknown Document Type" ma:contentTypeID="0x010104" ma:contentTypeVersion="0" ma:contentTypeDescription="" ma:contentTypeScope="" ma:versionID="05d83ceaa0bbd2e3bc716e6e66bd857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3d69fe45253d5ff147bb69036b756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A3CB039-C1D9-4974-B612-6EF5441C28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D8DD1C6-021E-48EB-8748-DC22460048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63DAA6-F5D8-4009-8022-789E9D2DA80D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226</TotalTime>
  <Words>628</Words>
  <Application>Microsoft Office PowerPoint</Application>
  <PresentationFormat>Widescreen</PresentationFormat>
  <Paragraphs>133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Monotype Sorts</vt:lpstr>
      <vt:lpstr>Times New Roman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WIUT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dpochitaev@wiut.uz</dc:creator>
  <cp:lastModifiedBy>Dmitriy Pochitaev</cp:lastModifiedBy>
  <cp:revision>39</cp:revision>
  <dcterms:created xsi:type="dcterms:W3CDTF">2016-09-21T07:29:12Z</dcterms:created>
  <dcterms:modified xsi:type="dcterms:W3CDTF">2020-10-01T17:30:00Z</dcterms:modified>
</cp:coreProperties>
</file>